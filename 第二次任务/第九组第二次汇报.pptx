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Default Extension="wdp" ContentType="image/vnd.ms-photo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7" r:id="rId2"/>
    <p:sldId id="260" r:id="rId3"/>
    <p:sldId id="261" r:id="rId4"/>
    <p:sldId id="265" r:id="rId5"/>
    <p:sldId id="315" r:id="rId6"/>
    <p:sldId id="298" r:id="rId7"/>
    <p:sldId id="274" r:id="rId8"/>
    <p:sldId id="305" r:id="rId9"/>
    <p:sldId id="312" r:id="rId10"/>
    <p:sldId id="318" r:id="rId11"/>
    <p:sldId id="307" r:id="rId12"/>
    <p:sldId id="309" r:id="rId13"/>
    <p:sldId id="319" r:id="rId14"/>
    <p:sldId id="306" r:id="rId15"/>
    <p:sldId id="316" r:id="rId16"/>
    <p:sldId id="320" r:id="rId17"/>
    <p:sldId id="308" r:id="rId18"/>
    <p:sldId id="317" r:id="rId19"/>
    <p:sldId id="321" r:id="rId20"/>
    <p:sldId id="293" r:id="rId21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C31"/>
    <a:srgbClr val="00421E"/>
    <a:srgbClr val="002611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086" y="-78"/>
      </p:cViewPr>
      <p:guideLst>
        <p:guide orient="horz" pos="180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578671-D98D-42B3-B8F7-FC6267B1BF25}" type="datetimeFigureOut">
              <a:rPr lang="zh-CN" altLang="en-US" smtClean="0"/>
              <a:pPr/>
              <a:t>2018/3/28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513A9-28C2-4FEA-BD7A-FBFC988B072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513A9-28C2-4FEA-BD7A-FBFC988B072B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513A9-28C2-4FEA-BD7A-FBFC988B072B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513A9-28C2-4FEA-BD7A-FBFC988B072B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513A9-28C2-4FEA-BD7A-FBFC988B072B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513A9-28C2-4FEA-BD7A-FBFC988B072B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513A9-28C2-4FEA-BD7A-FBFC988B072B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513A9-28C2-4FEA-BD7A-FBFC988B072B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513A9-28C2-4FEA-BD7A-FBFC988B072B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513A9-28C2-4FEA-BD7A-FBFC988B072B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513A9-28C2-4FEA-BD7A-FBFC988B072B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513A9-28C2-4FEA-BD7A-FBFC988B072B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513A9-28C2-4FEA-BD7A-FBFC988B072B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513A9-28C2-4FEA-BD7A-FBFC988B072B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513A9-28C2-4FEA-BD7A-FBFC988B072B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513A9-28C2-4FEA-BD7A-FBFC988B072B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513A9-28C2-4FEA-BD7A-FBFC988B072B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513A9-28C2-4FEA-BD7A-FBFC988B072B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513A9-28C2-4FEA-BD7A-FBFC988B072B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513A9-28C2-4FEA-BD7A-FBFC988B072B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513A9-28C2-4FEA-BD7A-FBFC988B072B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2018/3/28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2018/3/28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2018/3/28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2018/3/28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2018/3/28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2018/3/28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2018/3/28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="" xmlns:a14="http://schemas.microsoft.com/office/drawing/2010/main">
                  <a14:imgLayer r:embed="rId5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457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0" y="3721588"/>
            <a:ext cx="9144000" cy="19934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193800" y="218589"/>
            <a:ext cx="6756400" cy="4223087"/>
            <a:chOff x="1193800" y="218589"/>
            <a:chExt cx="6756400" cy="4223087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3800" y="218590"/>
              <a:ext cx="6756400" cy="4223086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3800" y="218589"/>
              <a:ext cx="6756400" cy="4223086"/>
            </a:xfrm>
            <a:prstGeom prst="rect">
              <a:avLst/>
            </a:prstGeom>
          </p:spPr>
        </p:pic>
      </p:grpSp>
      <p:sp>
        <p:nvSpPr>
          <p:cNvPr id="12" name="矩形 11"/>
          <p:cNvSpPr/>
          <p:nvPr/>
        </p:nvSpPr>
        <p:spPr>
          <a:xfrm>
            <a:off x="899592" y="3949814"/>
            <a:ext cx="73448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rgbClr val="006C31"/>
                </a:solidFill>
                <a:latin typeface="Adobe Gothic Std B" panose="020B0800000000000000" pitchFamily="34" charset="-128"/>
                <a:ea typeface="微软雅黑" panose="020B0503020204020204" pitchFamily="34" charset="-122"/>
              </a:rPr>
              <a:t>第九组第二次汇报</a:t>
            </a:r>
            <a:endParaRPr lang="zh-CN" altLang="en-US" sz="4000" b="1" dirty="0">
              <a:solidFill>
                <a:srgbClr val="006C31"/>
              </a:solidFill>
              <a:latin typeface="Adobe Gothic Std B" panose="020B0800000000000000" pitchFamily="34" charset="-128"/>
              <a:ea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59632" y="4871204"/>
            <a:ext cx="7200800" cy="434568"/>
          </a:xfrm>
          <a:prstGeom prst="roundRect">
            <a:avLst/>
          </a:prstGeom>
          <a:solidFill>
            <a:srgbClr val="006C31"/>
          </a:solidFill>
        </p:spPr>
        <p:txBody>
          <a:bodyPr wrap="square" lIns="115214" tIns="57607" rIns="115214" bIns="57607" rtlCol="0">
            <a:noAutofit/>
          </a:bodyPr>
          <a:lstStyle/>
          <a:p>
            <a:pPr algn="ctr"/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小组成员：吴文迪、徐天诚、梁智聪、王彦博、李俊华、吕小凡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3721604"/>
            <a:ext cx="9144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tmFilter="0,0; .5, 1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3"/>
          <p:cNvSpPr/>
          <p:nvPr/>
        </p:nvSpPr>
        <p:spPr>
          <a:xfrm>
            <a:off x="3347864" y="841276"/>
            <a:ext cx="3384376" cy="511044"/>
          </a:xfrm>
          <a:custGeom>
            <a:avLst/>
            <a:gdLst/>
            <a:ahLst/>
            <a:cxnLst/>
            <a:rect l="l" t="t" r="r" b="b"/>
            <a:pathLst>
              <a:path w="3374954" h="511044">
                <a:moveTo>
                  <a:pt x="0" y="0"/>
                </a:moveTo>
                <a:lnTo>
                  <a:pt x="3312637" y="0"/>
                </a:lnTo>
                <a:cubicBezTo>
                  <a:pt x="3347054" y="0"/>
                  <a:pt x="3374954" y="27900"/>
                  <a:pt x="3374954" y="62317"/>
                </a:cubicBezTo>
                <a:lnTo>
                  <a:pt x="3374954" y="448727"/>
                </a:lnTo>
                <a:cubicBezTo>
                  <a:pt x="3374954" y="483144"/>
                  <a:pt x="3347054" y="511044"/>
                  <a:pt x="3312637" y="511044"/>
                </a:cubicBezTo>
                <a:lnTo>
                  <a:pt x="0" y="511044"/>
                </a:lnTo>
                <a:lnTo>
                  <a:pt x="255522" y="255522"/>
                </a:lnTo>
                <a:close/>
              </a:path>
            </a:pathLst>
          </a:cu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834" tIns="49917" rIns="99834" bIns="49917" rtlCol="0" anchor="ctr"/>
          <a:lstStyle/>
          <a:p>
            <a:pPr algn="ctr"/>
            <a:r>
              <a:rPr lang="zh-CN" altLang="en-US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分工及进度介绍  </a:t>
            </a:r>
            <a:endParaRPr lang="en-US" altLang="zh-CN" sz="17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圆角矩形 1"/>
          <p:cNvSpPr/>
          <p:nvPr/>
        </p:nvSpPr>
        <p:spPr>
          <a:xfrm>
            <a:off x="2411760" y="841276"/>
            <a:ext cx="1008112" cy="511044"/>
          </a:xfrm>
          <a:custGeom>
            <a:avLst/>
            <a:gdLst/>
            <a:ahLst/>
            <a:cxnLst/>
            <a:rect l="l" t="t" r="r" b="b"/>
            <a:pathLst>
              <a:path w="1008112" h="511044">
                <a:moveTo>
                  <a:pt x="62317" y="0"/>
                </a:moveTo>
                <a:lnTo>
                  <a:pt x="432048" y="0"/>
                </a:lnTo>
                <a:lnTo>
                  <a:pt x="576064" y="0"/>
                </a:lnTo>
                <a:lnTo>
                  <a:pt x="752590" y="0"/>
                </a:lnTo>
                <a:lnTo>
                  <a:pt x="1008112" y="255522"/>
                </a:lnTo>
                <a:lnTo>
                  <a:pt x="752590" y="511044"/>
                </a:lnTo>
                <a:lnTo>
                  <a:pt x="576064" y="511044"/>
                </a:lnTo>
                <a:lnTo>
                  <a:pt x="432048" y="511044"/>
                </a:lnTo>
                <a:lnTo>
                  <a:pt x="62317" y="511044"/>
                </a:lnTo>
                <a:cubicBezTo>
                  <a:pt x="27900" y="511044"/>
                  <a:pt x="0" y="483144"/>
                  <a:pt x="0" y="448727"/>
                </a:cubicBezTo>
                <a:lnTo>
                  <a:pt x="0" y="62317"/>
                </a:lnTo>
                <a:cubicBezTo>
                  <a:pt x="0" y="27900"/>
                  <a:pt x="27900" y="0"/>
                  <a:pt x="62317" y="0"/>
                </a:cubicBezTo>
                <a:close/>
              </a:path>
            </a:pathLst>
          </a:cu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834" tIns="49917" rIns="324000" bIns="49917" rtlCol="0" anchor="ctr"/>
          <a:lstStyle/>
          <a:p>
            <a:pPr algn="ctr"/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圆角矩形 3"/>
          <p:cNvSpPr/>
          <p:nvPr/>
        </p:nvSpPr>
        <p:spPr>
          <a:xfrm>
            <a:off x="3347864" y="1561356"/>
            <a:ext cx="3384376" cy="511044"/>
          </a:xfrm>
          <a:custGeom>
            <a:avLst/>
            <a:gdLst/>
            <a:ahLst/>
            <a:cxnLst/>
            <a:rect l="l" t="t" r="r" b="b"/>
            <a:pathLst>
              <a:path w="3374954" h="511044">
                <a:moveTo>
                  <a:pt x="0" y="0"/>
                </a:moveTo>
                <a:lnTo>
                  <a:pt x="3312637" y="0"/>
                </a:lnTo>
                <a:cubicBezTo>
                  <a:pt x="3347054" y="0"/>
                  <a:pt x="3374954" y="27900"/>
                  <a:pt x="3374954" y="62317"/>
                </a:cubicBezTo>
                <a:lnTo>
                  <a:pt x="3374954" y="448727"/>
                </a:lnTo>
                <a:cubicBezTo>
                  <a:pt x="3374954" y="483144"/>
                  <a:pt x="3347054" y="511044"/>
                  <a:pt x="3312637" y="511044"/>
                </a:cubicBezTo>
                <a:lnTo>
                  <a:pt x="0" y="511044"/>
                </a:lnTo>
                <a:lnTo>
                  <a:pt x="255522" y="255522"/>
                </a:lnTo>
                <a:close/>
              </a:path>
            </a:pathLst>
          </a:cu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834" tIns="49917" rIns="99834" bIns="49917" rtlCol="0" anchor="ctr"/>
          <a:lstStyle/>
          <a:p>
            <a:pPr algn="ctr"/>
            <a:r>
              <a:rPr lang="zh-CN" altLang="en-US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用例图介绍</a:t>
            </a:r>
            <a:endParaRPr lang="en-US" altLang="zh-CN" sz="17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圆角矩形 1"/>
          <p:cNvSpPr/>
          <p:nvPr/>
        </p:nvSpPr>
        <p:spPr>
          <a:xfrm>
            <a:off x="2411760" y="1561356"/>
            <a:ext cx="1008112" cy="511044"/>
          </a:xfrm>
          <a:custGeom>
            <a:avLst/>
            <a:gdLst/>
            <a:ahLst/>
            <a:cxnLst/>
            <a:rect l="l" t="t" r="r" b="b"/>
            <a:pathLst>
              <a:path w="1008112" h="511044">
                <a:moveTo>
                  <a:pt x="62317" y="0"/>
                </a:moveTo>
                <a:lnTo>
                  <a:pt x="432048" y="0"/>
                </a:lnTo>
                <a:lnTo>
                  <a:pt x="576064" y="0"/>
                </a:lnTo>
                <a:lnTo>
                  <a:pt x="752590" y="0"/>
                </a:lnTo>
                <a:lnTo>
                  <a:pt x="1008112" y="255522"/>
                </a:lnTo>
                <a:lnTo>
                  <a:pt x="752590" y="511044"/>
                </a:lnTo>
                <a:lnTo>
                  <a:pt x="576064" y="511044"/>
                </a:lnTo>
                <a:lnTo>
                  <a:pt x="432048" y="511044"/>
                </a:lnTo>
                <a:lnTo>
                  <a:pt x="62317" y="511044"/>
                </a:lnTo>
                <a:cubicBezTo>
                  <a:pt x="27900" y="511044"/>
                  <a:pt x="0" y="483144"/>
                  <a:pt x="0" y="448727"/>
                </a:cubicBezTo>
                <a:lnTo>
                  <a:pt x="0" y="62317"/>
                </a:lnTo>
                <a:cubicBezTo>
                  <a:pt x="0" y="27900"/>
                  <a:pt x="27900" y="0"/>
                  <a:pt x="62317" y="0"/>
                </a:cubicBezTo>
                <a:close/>
              </a:path>
            </a:pathLst>
          </a:cu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834" tIns="49917" rIns="324000" bIns="49917" rtlCol="0" anchor="ctr"/>
          <a:lstStyle/>
          <a:p>
            <a:pPr algn="ctr"/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圆角矩形 3"/>
          <p:cNvSpPr/>
          <p:nvPr/>
        </p:nvSpPr>
        <p:spPr>
          <a:xfrm>
            <a:off x="3347864" y="2281436"/>
            <a:ext cx="3374954" cy="511044"/>
          </a:xfrm>
          <a:custGeom>
            <a:avLst/>
            <a:gdLst/>
            <a:ahLst/>
            <a:cxnLst/>
            <a:rect l="l" t="t" r="r" b="b"/>
            <a:pathLst>
              <a:path w="3374954" h="511044">
                <a:moveTo>
                  <a:pt x="0" y="0"/>
                </a:moveTo>
                <a:lnTo>
                  <a:pt x="3312637" y="0"/>
                </a:lnTo>
                <a:cubicBezTo>
                  <a:pt x="3347054" y="0"/>
                  <a:pt x="3374954" y="27900"/>
                  <a:pt x="3374954" y="62317"/>
                </a:cubicBezTo>
                <a:lnTo>
                  <a:pt x="3374954" y="448727"/>
                </a:lnTo>
                <a:cubicBezTo>
                  <a:pt x="3374954" y="483144"/>
                  <a:pt x="3347054" y="511044"/>
                  <a:pt x="3312637" y="511044"/>
                </a:cubicBezTo>
                <a:lnTo>
                  <a:pt x="0" y="511044"/>
                </a:lnTo>
                <a:lnTo>
                  <a:pt x="255522" y="255522"/>
                </a:lnTo>
                <a:close/>
              </a:path>
            </a:pathLst>
          </a:cu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834" tIns="49917" rIns="99834" bIns="49917" rtlCol="0" anchor="ctr"/>
          <a:lstStyle/>
          <a:p>
            <a:pPr algn="ctr"/>
            <a:r>
              <a:rPr lang="zh-CN" altLang="en-US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r>
              <a:rPr lang="zh-CN" altLang="en-US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r>
              <a:rPr lang="zh-CN" altLang="en-US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：进行软件更新</a:t>
            </a:r>
            <a:endParaRPr lang="zh-CN" altLang="en-US" sz="17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圆角矩形 1"/>
          <p:cNvSpPr/>
          <p:nvPr/>
        </p:nvSpPr>
        <p:spPr>
          <a:xfrm>
            <a:off x="2411760" y="2281436"/>
            <a:ext cx="1008112" cy="511044"/>
          </a:xfrm>
          <a:custGeom>
            <a:avLst/>
            <a:gdLst/>
            <a:ahLst/>
            <a:cxnLst/>
            <a:rect l="l" t="t" r="r" b="b"/>
            <a:pathLst>
              <a:path w="1008112" h="511044">
                <a:moveTo>
                  <a:pt x="62317" y="0"/>
                </a:moveTo>
                <a:lnTo>
                  <a:pt x="432048" y="0"/>
                </a:lnTo>
                <a:lnTo>
                  <a:pt x="576064" y="0"/>
                </a:lnTo>
                <a:lnTo>
                  <a:pt x="752590" y="0"/>
                </a:lnTo>
                <a:lnTo>
                  <a:pt x="1008112" y="255522"/>
                </a:lnTo>
                <a:lnTo>
                  <a:pt x="752590" y="511044"/>
                </a:lnTo>
                <a:lnTo>
                  <a:pt x="576064" y="511044"/>
                </a:lnTo>
                <a:lnTo>
                  <a:pt x="432048" y="511044"/>
                </a:lnTo>
                <a:lnTo>
                  <a:pt x="62317" y="511044"/>
                </a:lnTo>
                <a:cubicBezTo>
                  <a:pt x="27900" y="511044"/>
                  <a:pt x="0" y="483144"/>
                  <a:pt x="0" y="448727"/>
                </a:cubicBezTo>
                <a:lnTo>
                  <a:pt x="0" y="62317"/>
                </a:lnTo>
                <a:cubicBezTo>
                  <a:pt x="0" y="27900"/>
                  <a:pt x="27900" y="0"/>
                  <a:pt x="62317" y="0"/>
                </a:cubicBezTo>
                <a:close/>
              </a:path>
            </a:pathLst>
          </a:cu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834" tIns="49917" rIns="324000" bIns="49917" rtlCol="0" anchor="ctr"/>
          <a:lstStyle/>
          <a:p>
            <a:pPr algn="ctr"/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圆角矩形 3"/>
          <p:cNvSpPr/>
          <p:nvPr/>
        </p:nvSpPr>
        <p:spPr>
          <a:xfrm>
            <a:off x="3347864" y="3001516"/>
            <a:ext cx="3374954" cy="511044"/>
          </a:xfrm>
          <a:custGeom>
            <a:avLst/>
            <a:gdLst/>
            <a:ahLst/>
            <a:cxnLst/>
            <a:rect l="l" t="t" r="r" b="b"/>
            <a:pathLst>
              <a:path w="3374954" h="511044">
                <a:moveTo>
                  <a:pt x="0" y="0"/>
                </a:moveTo>
                <a:lnTo>
                  <a:pt x="3312637" y="0"/>
                </a:lnTo>
                <a:cubicBezTo>
                  <a:pt x="3347054" y="0"/>
                  <a:pt x="3374954" y="27900"/>
                  <a:pt x="3374954" y="62317"/>
                </a:cubicBezTo>
                <a:lnTo>
                  <a:pt x="3374954" y="448727"/>
                </a:lnTo>
                <a:cubicBezTo>
                  <a:pt x="3374954" y="483144"/>
                  <a:pt x="3347054" y="511044"/>
                  <a:pt x="3312637" y="511044"/>
                </a:cubicBezTo>
                <a:lnTo>
                  <a:pt x="0" y="511044"/>
                </a:lnTo>
                <a:lnTo>
                  <a:pt x="255522" y="255522"/>
                </a:lnTo>
                <a:close/>
              </a:path>
            </a:pathLst>
          </a:cu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834" tIns="49917" rIns="99834" bIns="49917" rtlCol="0" anchor="ctr"/>
          <a:lstStyle/>
          <a:p>
            <a:pPr algn="ctr"/>
            <a:r>
              <a:rPr lang="zh-CN" altLang="en-US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r>
              <a:rPr lang="zh-CN" altLang="en-US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r>
              <a:rPr lang="zh-CN" altLang="en-US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：查看更新记录</a:t>
            </a:r>
            <a:endParaRPr lang="zh-CN" altLang="en-US" sz="17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 1"/>
          <p:cNvSpPr/>
          <p:nvPr/>
        </p:nvSpPr>
        <p:spPr>
          <a:xfrm>
            <a:off x="2411760" y="3001516"/>
            <a:ext cx="1008112" cy="511044"/>
          </a:xfrm>
          <a:custGeom>
            <a:avLst/>
            <a:gdLst/>
            <a:ahLst/>
            <a:cxnLst/>
            <a:rect l="l" t="t" r="r" b="b"/>
            <a:pathLst>
              <a:path w="1008112" h="511044">
                <a:moveTo>
                  <a:pt x="62317" y="0"/>
                </a:moveTo>
                <a:lnTo>
                  <a:pt x="432048" y="0"/>
                </a:lnTo>
                <a:lnTo>
                  <a:pt x="576064" y="0"/>
                </a:lnTo>
                <a:lnTo>
                  <a:pt x="752590" y="0"/>
                </a:lnTo>
                <a:lnTo>
                  <a:pt x="1008112" y="255522"/>
                </a:lnTo>
                <a:lnTo>
                  <a:pt x="752590" y="511044"/>
                </a:lnTo>
                <a:lnTo>
                  <a:pt x="576064" y="511044"/>
                </a:lnTo>
                <a:lnTo>
                  <a:pt x="432048" y="511044"/>
                </a:lnTo>
                <a:lnTo>
                  <a:pt x="62317" y="511044"/>
                </a:lnTo>
                <a:cubicBezTo>
                  <a:pt x="27900" y="511044"/>
                  <a:pt x="0" y="483144"/>
                  <a:pt x="0" y="448727"/>
                </a:cubicBezTo>
                <a:lnTo>
                  <a:pt x="0" y="62317"/>
                </a:lnTo>
                <a:cubicBezTo>
                  <a:pt x="0" y="27900"/>
                  <a:pt x="27900" y="0"/>
                  <a:pt x="62317" y="0"/>
                </a:cubicBezTo>
                <a:close/>
              </a:path>
            </a:pathLst>
          </a:cu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834" tIns="49917" rIns="324000" bIns="49917" rtlCol="0" anchor="ctr"/>
          <a:lstStyle/>
          <a:p>
            <a:pPr algn="ctr"/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23528" y="351405"/>
            <a:ext cx="372660" cy="372659"/>
          </a:xfrm>
          <a:prstGeom prst="rect">
            <a:avLst/>
          </a:pr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507136" y="551221"/>
            <a:ext cx="248440" cy="248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827584" y="37961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 smtClean="0">
                <a:solidFill>
                  <a:srgbClr val="006C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目录页</a:t>
            </a:r>
            <a:endParaRPr lang="zh-CN" altLang="en-US" sz="2400" b="1" spc="300" dirty="0">
              <a:solidFill>
                <a:srgbClr val="006C3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1"/>
          <p:cNvSpPr/>
          <p:nvPr/>
        </p:nvSpPr>
        <p:spPr>
          <a:xfrm>
            <a:off x="2411760" y="3721596"/>
            <a:ext cx="1008112" cy="511044"/>
          </a:xfrm>
          <a:custGeom>
            <a:avLst/>
            <a:gdLst/>
            <a:ahLst/>
            <a:cxnLst/>
            <a:rect l="l" t="t" r="r" b="b"/>
            <a:pathLst>
              <a:path w="1008112" h="511044">
                <a:moveTo>
                  <a:pt x="62317" y="0"/>
                </a:moveTo>
                <a:lnTo>
                  <a:pt x="432048" y="0"/>
                </a:lnTo>
                <a:lnTo>
                  <a:pt x="576064" y="0"/>
                </a:lnTo>
                <a:lnTo>
                  <a:pt x="752590" y="0"/>
                </a:lnTo>
                <a:lnTo>
                  <a:pt x="1008112" y="255522"/>
                </a:lnTo>
                <a:lnTo>
                  <a:pt x="752590" y="511044"/>
                </a:lnTo>
                <a:lnTo>
                  <a:pt x="576064" y="511044"/>
                </a:lnTo>
                <a:lnTo>
                  <a:pt x="432048" y="511044"/>
                </a:lnTo>
                <a:lnTo>
                  <a:pt x="62317" y="511044"/>
                </a:lnTo>
                <a:cubicBezTo>
                  <a:pt x="27900" y="511044"/>
                  <a:pt x="0" y="483144"/>
                  <a:pt x="0" y="448727"/>
                </a:cubicBezTo>
                <a:lnTo>
                  <a:pt x="0" y="62317"/>
                </a:lnTo>
                <a:cubicBezTo>
                  <a:pt x="0" y="27900"/>
                  <a:pt x="27900" y="0"/>
                  <a:pt x="62317" y="0"/>
                </a:cubicBezTo>
                <a:close/>
              </a:path>
            </a:pathLst>
          </a:cu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834" tIns="49917" rIns="324000" bIns="49917" rtlCol="0" anchor="ctr"/>
          <a:lstStyle/>
          <a:p>
            <a:pPr algn="ctr"/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3"/>
          <p:cNvSpPr/>
          <p:nvPr/>
        </p:nvSpPr>
        <p:spPr>
          <a:xfrm>
            <a:off x="3347864" y="3721596"/>
            <a:ext cx="3374954" cy="511044"/>
          </a:xfrm>
          <a:custGeom>
            <a:avLst/>
            <a:gdLst/>
            <a:ahLst/>
            <a:cxnLst/>
            <a:rect l="l" t="t" r="r" b="b"/>
            <a:pathLst>
              <a:path w="3374954" h="511044">
                <a:moveTo>
                  <a:pt x="0" y="0"/>
                </a:moveTo>
                <a:lnTo>
                  <a:pt x="3312637" y="0"/>
                </a:lnTo>
                <a:cubicBezTo>
                  <a:pt x="3347054" y="0"/>
                  <a:pt x="3374954" y="27900"/>
                  <a:pt x="3374954" y="62317"/>
                </a:cubicBezTo>
                <a:lnTo>
                  <a:pt x="3374954" y="448727"/>
                </a:lnTo>
                <a:cubicBezTo>
                  <a:pt x="3374954" y="483144"/>
                  <a:pt x="3347054" y="511044"/>
                  <a:pt x="3312637" y="511044"/>
                </a:cubicBezTo>
                <a:lnTo>
                  <a:pt x="0" y="511044"/>
                </a:lnTo>
                <a:lnTo>
                  <a:pt x="255522" y="255522"/>
                </a:lnTo>
                <a:close/>
              </a:path>
            </a:pathLst>
          </a:cu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834" tIns="49917" rIns="99834" bIns="49917" rtlCol="0" anchor="ctr"/>
          <a:lstStyle/>
          <a:p>
            <a:pPr algn="ctr"/>
            <a:r>
              <a:rPr lang="zh-CN" altLang="en-US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r>
              <a:rPr lang="zh-CN" altLang="en-US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r>
              <a:rPr lang="zh-CN" altLang="en-US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：查看版本差异</a:t>
            </a:r>
            <a:endParaRPr lang="zh-CN" altLang="en-US" sz="17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圆角矩形 1"/>
          <p:cNvSpPr/>
          <p:nvPr/>
        </p:nvSpPr>
        <p:spPr>
          <a:xfrm>
            <a:off x="2411760" y="4369668"/>
            <a:ext cx="1008112" cy="511044"/>
          </a:xfrm>
          <a:custGeom>
            <a:avLst/>
            <a:gdLst/>
            <a:ahLst/>
            <a:cxnLst/>
            <a:rect l="l" t="t" r="r" b="b"/>
            <a:pathLst>
              <a:path w="1008112" h="511044">
                <a:moveTo>
                  <a:pt x="62317" y="0"/>
                </a:moveTo>
                <a:lnTo>
                  <a:pt x="432048" y="0"/>
                </a:lnTo>
                <a:lnTo>
                  <a:pt x="576064" y="0"/>
                </a:lnTo>
                <a:lnTo>
                  <a:pt x="752590" y="0"/>
                </a:lnTo>
                <a:lnTo>
                  <a:pt x="1008112" y="255522"/>
                </a:lnTo>
                <a:lnTo>
                  <a:pt x="752590" y="511044"/>
                </a:lnTo>
                <a:lnTo>
                  <a:pt x="576064" y="511044"/>
                </a:lnTo>
                <a:lnTo>
                  <a:pt x="432048" y="511044"/>
                </a:lnTo>
                <a:lnTo>
                  <a:pt x="62317" y="511044"/>
                </a:lnTo>
                <a:cubicBezTo>
                  <a:pt x="27900" y="511044"/>
                  <a:pt x="0" y="483144"/>
                  <a:pt x="0" y="448727"/>
                </a:cubicBezTo>
                <a:lnTo>
                  <a:pt x="0" y="62317"/>
                </a:lnTo>
                <a:cubicBezTo>
                  <a:pt x="0" y="27900"/>
                  <a:pt x="27900" y="0"/>
                  <a:pt x="62317" y="0"/>
                </a:cubicBezTo>
                <a:close/>
              </a:path>
            </a:pathLst>
          </a:cu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834" tIns="49917" rIns="324000" bIns="49917" rtlCol="0" anchor="ctr"/>
          <a:lstStyle/>
          <a:p>
            <a:pPr algn="ctr"/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圆角矩形 3"/>
          <p:cNvSpPr/>
          <p:nvPr/>
        </p:nvSpPr>
        <p:spPr>
          <a:xfrm>
            <a:off x="3347864" y="4369668"/>
            <a:ext cx="3374954" cy="511044"/>
          </a:xfrm>
          <a:custGeom>
            <a:avLst/>
            <a:gdLst/>
            <a:ahLst/>
            <a:cxnLst/>
            <a:rect l="l" t="t" r="r" b="b"/>
            <a:pathLst>
              <a:path w="3374954" h="511044">
                <a:moveTo>
                  <a:pt x="0" y="0"/>
                </a:moveTo>
                <a:lnTo>
                  <a:pt x="3312637" y="0"/>
                </a:lnTo>
                <a:cubicBezTo>
                  <a:pt x="3347054" y="0"/>
                  <a:pt x="3374954" y="27900"/>
                  <a:pt x="3374954" y="62317"/>
                </a:cubicBezTo>
                <a:lnTo>
                  <a:pt x="3374954" y="448727"/>
                </a:lnTo>
                <a:cubicBezTo>
                  <a:pt x="3374954" y="483144"/>
                  <a:pt x="3347054" y="511044"/>
                  <a:pt x="3312637" y="511044"/>
                </a:cubicBezTo>
                <a:lnTo>
                  <a:pt x="0" y="511044"/>
                </a:lnTo>
                <a:lnTo>
                  <a:pt x="255522" y="255522"/>
                </a:lnTo>
                <a:close/>
              </a:path>
            </a:pathLst>
          </a:cu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834" tIns="49917" rIns="99834" bIns="49917" rtlCol="0" anchor="ctr"/>
          <a:lstStyle/>
          <a:p>
            <a:pPr algn="ctr"/>
            <a:r>
              <a:rPr lang="zh-CN" altLang="en-US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r>
              <a:rPr lang="zh-CN" altLang="en-US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r>
              <a:rPr lang="zh-CN" altLang="en-US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：选择更新来源</a:t>
            </a:r>
            <a:endParaRPr lang="zh-CN" altLang="en-US" sz="17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000"/>
                            </p:stCondLst>
                            <p:childTnLst>
                              <p:par>
                                <p:cTn id="6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7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/>
      <p:bldP spid="13" grpId="0" animBg="1"/>
      <p:bldP spid="14" grpId="0" animBg="1"/>
      <p:bldP spid="16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1" rIns="91424" bIns="45711" rtlCol="0" anchor="ctr"/>
          <a:lstStyle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2041144" y="1705372"/>
            <a:ext cx="5112568" cy="2808312"/>
          </a:xfrm>
          <a:prstGeom prst="roundRect">
            <a:avLst>
              <a:gd name="adj" fmla="val 4780"/>
            </a:avLst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/>
          <p:cNvSpPr/>
          <p:nvPr/>
        </p:nvSpPr>
        <p:spPr>
          <a:xfrm flipH="1">
            <a:off x="6649656" y="3865612"/>
            <a:ext cx="504056" cy="648072"/>
          </a:xfrm>
          <a:prstGeom prst="rtTriangle">
            <a:avLst/>
          </a:prstGeom>
          <a:solidFill>
            <a:srgbClr val="0042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6865680" y="4270524"/>
            <a:ext cx="216000" cy="216000"/>
            <a:chOff x="360000" y="2682000"/>
            <a:chExt cx="288032" cy="288032"/>
          </a:xfrm>
        </p:grpSpPr>
        <p:sp>
          <p:nvSpPr>
            <p:cNvPr id="5" name="椭圆 4"/>
            <p:cNvSpPr/>
            <p:nvPr/>
          </p:nvSpPr>
          <p:spPr>
            <a:xfrm>
              <a:off x="360000" y="2682000"/>
              <a:ext cx="288032" cy="288032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右箭头 5"/>
            <p:cNvSpPr/>
            <p:nvPr/>
          </p:nvSpPr>
          <p:spPr>
            <a:xfrm>
              <a:off x="431560" y="2780936"/>
              <a:ext cx="180000" cy="72000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任意多边形 6"/>
          <p:cNvSpPr/>
          <p:nvPr/>
        </p:nvSpPr>
        <p:spPr>
          <a:xfrm flipH="1">
            <a:off x="2041143" y="1552211"/>
            <a:ext cx="1830723" cy="152543"/>
          </a:xfrm>
          <a:custGeom>
            <a:avLst/>
            <a:gdLst>
              <a:gd name="connsiteX0" fmla="*/ 0 w 1512168"/>
              <a:gd name="connsiteY0" fmla="*/ 216000 h 216000"/>
              <a:gd name="connsiteX1" fmla="*/ 54000 w 1512168"/>
              <a:gd name="connsiteY1" fmla="*/ 0 h 216000"/>
              <a:gd name="connsiteX2" fmla="*/ 1512168 w 1512168"/>
              <a:gd name="connsiteY2" fmla="*/ 0 h 216000"/>
              <a:gd name="connsiteX3" fmla="*/ 1458168 w 1512168"/>
              <a:gd name="connsiteY3" fmla="*/ 216000 h 216000"/>
              <a:gd name="connsiteX4" fmla="*/ 0 w 1512168"/>
              <a:gd name="connsiteY4" fmla="*/ 216000 h 216000"/>
              <a:gd name="connsiteX0-1" fmla="*/ 0 w 1512168"/>
              <a:gd name="connsiteY0-2" fmla="*/ 216000 h 216024"/>
              <a:gd name="connsiteX1-3" fmla="*/ 54000 w 1512168"/>
              <a:gd name="connsiteY1-4" fmla="*/ 0 h 216024"/>
              <a:gd name="connsiteX2-5" fmla="*/ 1512168 w 1512168"/>
              <a:gd name="connsiteY2-6" fmla="*/ 0 h 216024"/>
              <a:gd name="connsiteX3-7" fmla="*/ 1368152 w 1512168"/>
              <a:gd name="connsiteY3-8" fmla="*/ 216024 h 216024"/>
              <a:gd name="connsiteX4-9" fmla="*/ 0 w 1512168"/>
              <a:gd name="connsiteY4-10" fmla="*/ 216000 h 216024"/>
              <a:gd name="connsiteX0-11" fmla="*/ 0 w 1512168"/>
              <a:gd name="connsiteY0-12" fmla="*/ 216000 h 216024"/>
              <a:gd name="connsiteX1-13" fmla="*/ 144016 w 1512168"/>
              <a:gd name="connsiteY1-14" fmla="*/ 0 h 216024"/>
              <a:gd name="connsiteX2-15" fmla="*/ 1512168 w 1512168"/>
              <a:gd name="connsiteY2-16" fmla="*/ 0 h 216024"/>
              <a:gd name="connsiteX3-17" fmla="*/ 1368152 w 1512168"/>
              <a:gd name="connsiteY3-18" fmla="*/ 216024 h 216024"/>
              <a:gd name="connsiteX4-19" fmla="*/ 0 w 1512168"/>
              <a:gd name="connsiteY4-20" fmla="*/ 216000 h 2160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512168" h="216024">
                <a:moveTo>
                  <a:pt x="0" y="216000"/>
                </a:moveTo>
                <a:lnTo>
                  <a:pt x="144016" y="0"/>
                </a:lnTo>
                <a:lnTo>
                  <a:pt x="1512168" y="0"/>
                </a:lnTo>
                <a:lnTo>
                  <a:pt x="1368152" y="216024"/>
                </a:lnTo>
                <a:lnTo>
                  <a:pt x="0" y="216000"/>
                </a:lnTo>
                <a:close/>
              </a:path>
            </a:pathLst>
          </a:custGeom>
          <a:solidFill>
            <a:srgbClr val="00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979712" y="1765523"/>
            <a:ext cx="45365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项目人员职责  </a:t>
            </a:r>
            <a:endParaRPr lang="en-US" altLang="zh-CN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46"/>
          <p:cNvSpPr txBox="1">
            <a:spLocks noChangeArrowheads="1"/>
          </p:cNvSpPr>
          <p:nvPr/>
        </p:nvSpPr>
        <p:spPr bwMode="auto">
          <a:xfrm>
            <a:off x="2699792" y="3217540"/>
            <a:ext cx="2072611" cy="324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7404" tIns="38702" rIns="77404" bIns="3870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itchFamily="2" charset="2"/>
              <a:buChar char="ü"/>
              <a:defRPr/>
            </a:pPr>
            <a:r>
              <a:rPr lang="zh-CN" altLang="en-US" sz="16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优化的分支</a:t>
            </a:r>
            <a:endParaRPr lang="en-US" sz="1600" kern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流程图: 手动输入 15"/>
          <p:cNvSpPr/>
          <p:nvPr/>
        </p:nvSpPr>
        <p:spPr>
          <a:xfrm rot="5400000" flipH="1">
            <a:off x="3770051" y="-176696"/>
            <a:ext cx="729225" cy="4187040"/>
          </a:xfrm>
          <a:prstGeom prst="flowChartManualInput">
            <a:avLst/>
          </a:prstGeom>
          <a:solidFill>
            <a:srgbClr val="0042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2195736" y="1777380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</a:rPr>
              <a:t>职责、分工介绍 </a:t>
            </a:r>
            <a:r>
              <a:rPr lang="en-US" altLang="zh-CN" b="1" dirty="0" smtClean="0">
                <a:solidFill>
                  <a:schemeClr val="bg1"/>
                </a:solidFill>
              </a:rPr>
              <a:t>— </a:t>
            </a:r>
            <a:r>
              <a:rPr lang="zh-CN" altLang="en-US" b="1" dirty="0" smtClean="0">
                <a:solidFill>
                  <a:schemeClr val="bg1"/>
                </a:solidFill>
              </a:rPr>
              <a:t>吕小凡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7" name="TextBox 146"/>
          <p:cNvSpPr txBox="1">
            <a:spLocks noChangeArrowheads="1"/>
          </p:cNvSpPr>
          <p:nvPr/>
        </p:nvSpPr>
        <p:spPr bwMode="auto">
          <a:xfrm>
            <a:off x="2716560" y="2874268"/>
            <a:ext cx="2360643" cy="324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7404" tIns="38702" rIns="77404" bIns="3870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itchFamily="2" charset="2"/>
              <a:buChar char="ü"/>
              <a:defRPr/>
            </a:pPr>
            <a:r>
              <a:rPr lang="zh-CN" altLang="en-US" sz="16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本周分工</a:t>
            </a:r>
            <a:endParaRPr lang="en-US" sz="1600" kern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125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625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125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9" grpId="0"/>
      <p:bldP spid="10" grpId="0"/>
      <p:bldP spid="16" grpId="0" animBg="1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五边形 69"/>
          <p:cNvSpPr/>
          <p:nvPr/>
        </p:nvSpPr>
        <p:spPr>
          <a:xfrm>
            <a:off x="0" y="274202"/>
            <a:ext cx="2699792" cy="360040"/>
          </a:xfrm>
          <a:prstGeom prst="homePlate">
            <a:avLst/>
          </a:pr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1" name="TextBox 14"/>
          <p:cNvSpPr txBox="1">
            <a:spLocks noChangeArrowheads="1"/>
          </p:cNvSpPr>
          <p:nvPr/>
        </p:nvSpPr>
        <p:spPr bwMode="auto">
          <a:xfrm>
            <a:off x="107504" y="286698"/>
            <a:ext cx="2304256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  <a:defRPr/>
            </a:pPr>
            <a:r>
              <a:rPr lang="zh-CN" altLang="en-US" sz="1600" kern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小组成员及本周分工</a:t>
            </a:r>
            <a:endParaRPr lang="en-US" altLang="zh-CN" sz="1600" kern="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对角圆角矩形 71"/>
          <p:cNvSpPr/>
          <p:nvPr/>
        </p:nvSpPr>
        <p:spPr>
          <a:xfrm>
            <a:off x="755576" y="913284"/>
            <a:ext cx="1343546" cy="573340"/>
          </a:xfrm>
          <a:prstGeom prst="round2DiagRect">
            <a:avLst/>
          </a:pr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吴文迪</a:t>
            </a:r>
            <a:endParaRPr lang="zh-CN" altLang="en-US" sz="17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对角圆角矩形 72"/>
          <p:cNvSpPr/>
          <p:nvPr/>
        </p:nvSpPr>
        <p:spPr>
          <a:xfrm>
            <a:off x="755576" y="1705372"/>
            <a:ext cx="1345257" cy="573342"/>
          </a:xfrm>
          <a:prstGeom prst="round2DiagRect">
            <a:avLst/>
          </a:pr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吕小凡</a:t>
            </a:r>
            <a:endParaRPr lang="zh-CN" altLang="en-US" sz="17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对角圆角矩形 73"/>
          <p:cNvSpPr/>
          <p:nvPr/>
        </p:nvSpPr>
        <p:spPr>
          <a:xfrm>
            <a:off x="755576" y="2497460"/>
            <a:ext cx="1345257" cy="573340"/>
          </a:xfrm>
          <a:prstGeom prst="round2DiagRect">
            <a:avLst/>
          </a:pr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王彦博</a:t>
            </a:r>
            <a:endParaRPr lang="zh-CN" altLang="en-US" sz="17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对角圆角矩形 74"/>
          <p:cNvSpPr/>
          <p:nvPr/>
        </p:nvSpPr>
        <p:spPr>
          <a:xfrm>
            <a:off x="755576" y="3289548"/>
            <a:ext cx="1343546" cy="573342"/>
          </a:xfrm>
          <a:prstGeom prst="round2DiagRect">
            <a:avLst/>
          </a:pr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梁智聪</a:t>
            </a:r>
            <a:endParaRPr lang="zh-CN" altLang="en-US" sz="17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6" name="直接箭头连接符 75"/>
          <p:cNvCxnSpPr/>
          <p:nvPr/>
        </p:nvCxnSpPr>
        <p:spPr>
          <a:xfrm>
            <a:off x="2123728" y="1201316"/>
            <a:ext cx="664071" cy="0"/>
          </a:xfrm>
          <a:prstGeom prst="straightConnector1">
            <a:avLst/>
          </a:prstGeom>
          <a:ln cap="rnd">
            <a:solidFill>
              <a:schemeClr val="bg1">
                <a:lumMod val="65000"/>
              </a:schemeClr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组合 76"/>
          <p:cNvGrpSpPr/>
          <p:nvPr/>
        </p:nvGrpSpPr>
        <p:grpSpPr>
          <a:xfrm>
            <a:off x="2843808" y="913284"/>
            <a:ext cx="2832572" cy="619549"/>
            <a:chOff x="3024807" y="1419622"/>
            <a:chExt cx="2627313" cy="574675"/>
          </a:xfrm>
        </p:grpSpPr>
        <p:sp>
          <p:nvSpPr>
            <p:cNvPr id="78" name="文本框 8"/>
            <p:cNvSpPr txBox="1">
              <a:spLocks noChangeArrowheads="1"/>
            </p:cNvSpPr>
            <p:nvPr/>
          </p:nvSpPr>
          <p:spPr bwMode="auto">
            <a:xfrm>
              <a:off x="3024807" y="1419622"/>
              <a:ext cx="1129185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32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/>
              <a:r>
                <a:rPr lang="zh-CN" altLang="en-US" sz="19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</a:rPr>
                <a:t>组长</a:t>
              </a:r>
              <a:endParaRPr lang="zh-CN" altLang="en-US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9" name="文本框 9"/>
            <p:cNvSpPr txBox="1"/>
            <p:nvPr/>
          </p:nvSpPr>
          <p:spPr>
            <a:xfrm>
              <a:off x="3024807" y="1705372"/>
              <a:ext cx="2627313" cy="28892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>
                <a:defRPr/>
              </a:pPr>
              <a:r>
                <a:rPr lang="zh-CN" altLang="en-US" sz="13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人员分工、制作用例图</a:t>
              </a:r>
              <a:endPara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80" name="直接箭头连接符 79"/>
          <p:cNvCxnSpPr/>
          <p:nvPr/>
        </p:nvCxnSpPr>
        <p:spPr>
          <a:xfrm>
            <a:off x="2123728" y="1993404"/>
            <a:ext cx="664071" cy="0"/>
          </a:xfrm>
          <a:prstGeom prst="straightConnector1">
            <a:avLst/>
          </a:prstGeom>
          <a:ln cap="rnd">
            <a:solidFill>
              <a:schemeClr val="bg1">
                <a:lumMod val="65000"/>
              </a:schemeClr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组合 80"/>
          <p:cNvGrpSpPr/>
          <p:nvPr/>
        </p:nvGrpSpPr>
        <p:grpSpPr>
          <a:xfrm>
            <a:off x="2843808" y="1705372"/>
            <a:ext cx="2832572" cy="617838"/>
            <a:chOff x="3888903" y="2139702"/>
            <a:chExt cx="2627313" cy="573088"/>
          </a:xfrm>
        </p:grpSpPr>
        <p:sp>
          <p:nvSpPr>
            <p:cNvPr id="82" name="文本框 11"/>
            <p:cNvSpPr txBox="1">
              <a:spLocks noChangeArrowheads="1"/>
            </p:cNvSpPr>
            <p:nvPr/>
          </p:nvSpPr>
          <p:spPr bwMode="auto">
            <a:xfrm>
              <a:off x="3888903" y="2139702"/>
              <a:ext cx="1129185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32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9pPr>
            </a:lstStyle>
            <a:p>
              <a:r>
                <a:rPr lang="zh-CN" altLang="en-US" sz="19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</a:rPr>
                <a:t>秘书</a:t>
              </a:r>
              <a:endParaRPr lang="zh-CN" altLang="en-US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3" name="文本框 12"/>
            <p:cNvSpPr txBox="1"/>
            <p:nvPr/>
          </p:nvSpPr>
          <p:spPr>
            <a:xfrm>
              <a:off x="3888903" y="2425452"/>
              <a:ext cx="2627313" cy="287338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>
                <a:defRPr/>
              </a:pPr>
              <a:r>
                <a:rPr lang="zh-CN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制作活动图、会议记录、</a:t>
              </a:r>
              <a:r>
                <a:rPr lang="en-US" altLang="zh-CN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制作</a:t>
              </a:r>
              <a:endPara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84" name="直接箭头连接符 83"/>
          <p:cNvCxnSpPr/>
          <p:nvPr/>
        </p:nvCxnSpPr>
        <p:spPr>
          <a:xfrm>
            <a:off x="2123728" y="2785492"/>
            <a:ext cx="664071" cy="0"/>
          </a:xfrm>
          <a:prstGeom prst="straightConnector1">
            <a:avLst/>
          </a:prstGeom>
          <a:ln cap="rnd">
            <a:solidFill>
              <a:schemeClr val="bg1">
                <a:lumMod val="65000"/>
              </a:schemeClr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组合 84"/>
          <p:cNvGrpSpPr/>
          <p:nvPr/>
        </p:nvGrpSpPr>
        <p:grpSpPr>
          <a:xfrm>
            <a:off x="2843809" y="2425452"/>
            <a:ext cx="3456384" cy="617837"/>
            <a:chOff x="4682788" y="2934767"/>
            <a:chExt cx="2683212" cy="573087"/>
          </a:xfrm>
        </p:grpSpPr>
        <p:sp>
          <p:nvSpPr>
            <p:cNvPr id="86" name="文本框 14"/>
            <p:cNvSpPr txBox="1">
              <a:spLocks noChangeArrowheads="1"/>
            </p:cNvSpPr>
            <p:nvPr/>
          </p:nvSpPr>
          <p:spPr bwMode="auto">
            <a:xfrm>
              <a:off x="4738688" y="2934767"/>
              <a:ext cx="1129185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32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9pPr>
            </a:lstStyle>
            <a:p>
              <a:endParaRPr lang="zh-CN" altLang="en-US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7" name="文本框 15"/>
            <p:cNvSpPr txBox="1"/>
            <p:nvPr/>
          </p:nvSpPr>
          <p:spPr>
            <a:xfrm>
              <a:off x="4682788" y="3068352"/>
              <a:ext cx="2683212" cy="439502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>
                <a:defRPr/>
              </a:pPr>
              <a:r>
                <a:rPr lang="zh-CN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参与制作需求分析说明书、项目管理</a:t>
              </a:r>
              <a:endPara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88" name="直接箭头连接符 87"/>
          <p:cNvCxnSpPr/>
          <p:nvPr/>
        </p:nvCxnSpPr>
        <p:spPr>
          <a:xfrm>
            <a:off x="2123728" y="3577580"/>
            <a:ext cx="664071" cy="0"/>
          </a:xfrm>
          <a:prstGeom prst="straightConnector1">
            <a:avLst/>
          </a:prstGeom>
          <a:ln cap="rnd">
            <a:solidFill>
              <a:schemeClr val="bg1">
                <a:lumMod val="65000"/>
              </a:schemeClr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组合 88"/>
          <p:cNvGrpSpPr/>
          <p:nvPr/>
        </p:nvGrpSpPr>
        <p:grpSpPr>
          <a:xfrm>
            <a:off x="2843807" y="3217543"/>
            <a:ext cx="3528392" cy="689843"/>
            <a:chOff x="5529974" y="3654846"/>
            <a:chExt cx="2682049" cy="639877"/>
          </a:xfrm>
        </p:grpSpPr>
        <p:sp>
          <p:nvSpPr>
            <p:cNvPr id="90" name="文本框 17"/>
            <p:cNvSpPr txBox="1">
              <a:spLocks noChangeArrowheads="1"/>
            </p:cNvSpPr>
            <p:nvPr/>
          </p:nvSpPr>
          <p:spPr bwMode="auto">
            <a:xfrm>
              <a:off x="5651500" y="3654846"/>
              <a:ext cx="1129185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32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9pPr>
            </a:lstStyle>
            <a:p>
              <a:endParaRPr lang="zh-CN" altLang="en-US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1" name="文本框 18"/>
            <p:cNvSpPr txBox="1"/>
            <p:nvPr/>
          </p:nvSpPr>
          <p:spPr>
            <a:xfrm>
              <a:off x="5529974" y="3721635"/>
              <a:ext cx="2682049" cy="573088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>
                <a:defRPr/>
              </a:pPr>
              <a:r>
                <a:rPr lang="zh-CN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参与制作需求分析说明书、继续学习</a:t>
              </a:r>
              <a:r>
                <a:rPr lang="en-US" altLang="zh-CN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C#</a:t>
              </a:r>
              <a:endPara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5" name="对角圆角矩形 94"/>
          <p:cNvSpPr/>
          <p:nvPr/>
        </p:nvSpPr>
        <p:spPr>
          <a:xfrm>
            <a:off x="755576" y="4081636"/>
            <a:ext cx="1343546" cy="573342"/>
          </a:xfrm>
          <a:prstGeom prst="round2DiagRect">
            <a:avLst/>
          </a:pr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徐天诚</a:t>
            </a:r>
            <a:endParaRPr lang="zh-CN" altLang="en-US" sz="17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6" name="直接箭头连接符 95"/>
          <p:cNvCxnSpPr/>
          <p:nvPr/>
        </p:nvCxnSpPr>
        <p:spPr>
          <a:xfrm>
            <a:off x="2123728" y="4369668"/>
            <a:ext cx="664071" cy="0"/>
          </a:xfrm>
          <a:prstGeom prst="straightConnector1">
            <a:avLst/>
          </a:prstGeom>
          <a:ln cap="rnd">
            <a:solidFill>
              <a:schemeClr val="bg1">
                <a:lumMod val="65000"/>
              </a:schemeClr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组合 96"/>
          <p:cNvGrpSpPr/>
          <p:nvPr/>
        </p:nvGrpSpPr>
        <p:grpSpPr>
          <a:xfrm>
            <a:off x="2843808" y="4009631"/>
            <a:ext cx="3456384" cy="689843"/>
            <a:chOff x="5517920" y="3654846"/>
            <a:chExt cx="3205921" cy="639877"/>
          </a:xfrm>
        </p:grpSpPr>
        <p:sp>
          <p:nvSpPr>
            <p:cNvPr id="98" name="文本框 17"/>
            <p:cNvSpPr txBox="1">
              <a:spLocks noChangeArrowheads="1"/>
            </p:cNvSpPr>
            <p:nvPr/>
          </p:nvSpPr>
          <p:spPr bwMode="auto">
            <a:xfrm>
              <a:off x="5651500" y="3654846"/>
              <a:ext cx="1129185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32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9pPr>
            </a:lstStyle>
            <a:p>
              <a:endParaRPr lang="zh-CN" altLang="en-US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9" name="文本框 18"/>
            <p:cNvSpPr txBox="1"/>
            <p:nvPr/>
          </p:nvSpPr>
          <p:spPr>
            <a:xfrm>
              <a:off x="5517920" y="3721635"/>
              <a:ext cx="3205921" cy="573088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>
                <a:defRPr/>
              </a:pPr>
              <a:r>
                <a:rPr lang="zh-CN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参与制作需求分析说明书、继续学习</a:t>
              </a:r>
              <a:r>
                <a:rPr lang="en-US" altLang="zh-CN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C#</a:t>
              </a:r>
              <a:endPara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0" name="对角圆角矩形 99"/>
          <p:cNvSpPr/>
          <p:nvPr/>
        </p:nvSpPr>
        <p:spPr>
          <a:xfrm>
            <a:off x="755576" y="4801716"/>
            <a:ext cx="1343546" cy="573342"/>
          </a:xfrm>
          <a:prstGeom prst="round2DiagRect">
            <a:avLst/>
          </a:pr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1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李俊华</a:t>
            </a:r>
            <a:endParaRPr lang="zh-CN" altLang="en-US" sz="17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1" name="直接箭头连接符 100"/>
          <p:cNvCxnSpPr/>
          <p:nvPr/>
        </p:nvCxnSpPr>
        <p:spPr>
          <a:xfrm>
            <a:off x="2123728" y="5089748"/>
            <a:ext cx="664071" cy="0"/>
          </a:xfrm>
          <a:prstGeom prst="straightConnector1">
            <a:avLst/>
          </a:prstGeom>
          <a:ln cap="rnd">
            <a:solidFill>
              <a:schemeClr val="bg1">
                <a:lumMod val="65000"/>
              </a:schemeClr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组合 101"/>
          <p:cNvGrpSpPr/>
          <p:nvPr/>
        </p:nvGrpSpPr>
        <p:grpSpPr>
          <a:xfrm>
            <a:off x="2843808" y="4729711"/>
            <a:ext cx="3528392" cy="689843"/>
            <a:chOff x="5584710" y="3654846"/>
            <a:chExt cx="2860852" cy="639877"/>
          </a:xfrm>
        </p:grpSpPr>
        <p:sp>
          <p:nvSpPr>
            <p:cNvPr id="103" name="文本框 17"/>
            <p:cNvSpPr txBox="1">
              <a:spLocks noChangeArrowheads="1"/>
            </p:cNvSpPr>
            <p:nvPr/>
          </p:nvSpPr>
          <p:spPr bwMode="auto">
            <a:xfrm>
              <a:off x="5651500" y="3654846"/>
              <a:ext cx="1129185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32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9pPr>
            </a:lstStyle>
            <a:p>
              <a:endParaRPr lang="zh-CN" altLang="en-US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04" name="文本框 18"/>
            <p:cNvSpPr txBox="1"/>
            <p:nvPr/>
          </p:nvSpPr>
          <p:spPr>
            <a:xfrm>
              <a:off x="5584710" y="3721635"/>
              <a:ext cx="2860852" cy="573088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>
                <a:defRPr/>
              </a:pPr>
              <a:r>
                <a:rPr lang="zh-CN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参与制作需求分析说明书、继续学习</a:t>
              </a:r>
              <a:r>
                <a:rPr lang="en-US" altLang="zh-CN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C#</a:t>
              </a:r>
              <a:endPara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9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9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/>
      <p:bldP spid="72" grpId="0" animBg="1"/>
      <p:bldP spid="73" grpId="0" animBg="1"/>
      <p:bldP spid="74" grpId="0" animBg="1"/>
      <p:bldP spid="75" grpId="0" animBg="1"/>
      <p:bldP spid="95" grpId="0" animBg="1"/>
      <p:bldP spid="10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1"/>
          <p:cNvSpPr/>
          <p:nvPr/>
        </p:nvSpPr>
        <p:spPr>
          <a:xfrm>
            <a:off x="0" y="274202"/>
            <a:ext cx="2411760" cy="360040"/>
          </a:xfrm>
          <a:prstGeom prst="homePlate">
            <a:avLst/>
          </a:pr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TextBox 14"/>
          <p:cNvSpPr txBox="1">
            <a:spLocks noChangeArrowheads="1"/>
          </p:cNvSpPr>
          <p:nvPr/>
        </p:nvSpPr>
        <p:spPr bwMode="auto">
          <a:xfrm>
            <a:off x="107504" y="286698"/>
            <a:ext cx="2016224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CN" altLang="en-US" sz="1600" b="1" kern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优化的分支</a:t>
            </a:r>
          </a:p>
        </p:txBody>
      </p:sp>
      <p:sp>
        <p:nvSpPr>
          <p:cNvPr id="12" name="矩形 11"/>
          <p:cNvSpPr/>
          <p:nvPr/>
        </p:nvSpPr>
        <p:spPr>
          <a:xfrm>
            <a:off x="6363636" y="3112783"/>
            <a:ext cx="14401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5616" y="841276"/>
            <a:ext cx="2736304" cy="4464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48064" y="553244"/>
            <a:ext cx="3190875" cy="474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1" rIns="91424" bIns="45711" rtlCol="0" anchor="ctr"/>
          <a:lstStyle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2041144" y="1705372"/>
            <a:ext cx="5112568" cy="2808312"/>
          </a:xfrm>
          <a:prstGeom prst="roundRect">
            <a:avLst>
              <a:gd name="adj" fmla="val 4780"/>
            </a:avLst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/>
          <p:cNvSpPr/>
          <p:nvPr/>
        </p:nvSpPr>
        <p:spPr>
          <a:xfrm flipH="1">
            <a:off x="6649656" y="3865612"/>
            <a:ext cx="504056" cy="648072"/>
          </a:xfrm>
          <a:prstGeom prst="rtTriangle">
            <a:avLst/>
          </a:prstGeom>
          <a:solidFill>
            <a:srgbClr val="0042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6865680" y="4270524"/>
            <a:ext cx="216000" cy="216000"/>
            <a:chOff x="360000" y="2682000"/>
            <a:chExt cx="288032" cy="288032"/>
          </a:xfrm>
        </p:grpSpPr>
        <p:sp>
          <p:nvSpPr>
            <p:cNvPr id="5" name="椭圆 4"/>
            <p:cNvSpPr/>
            <p:nvPr/>
          </p:nvSpPr>
          <p:spPr>
            <a:xfrm>
              <a:off x="360000" y="2682000"/>
              <a:ext cx="288032" cy="288032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右箭头 5"/>
            <p:cNvSpPr/>
            <p:nvPr/>
          </p:nvSpPr>
          <p:spPr>
            <a:xfrm>
              <a:off x="431560" y="2780936"/>
              <a:ext cx="180000" cy="72000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任意多边形 6"/>
          <p:cNvSpPr/>
          <p:nvPr/>
        </p:nvSpPr>
        <p:spPr>
          <a:xfrm flipH="1">
            <a:off x="2041143" y="1552211"/>
            <a:ext cx="1830723" cy="152543"/>
          </a:xfrm>
          <a:custGeom>
            <a:avLst/>
            <a:gdLst>
              <a:gd name="connsiteX0" fmla="*/ 0 w 1512168"/>
              <a:gd name="connsiteY0" fmla="*/ 216000 h 216000"/>
              <a:gd name="connsiteX1" fmla="*/ 54000 w 1512168"/>
              <a:gd name="connsiteY1" fmla="*/ 0 h 216000"/>
              <a:gd name="connsiteX2" fmla="*/ 1512168 w 1512168"/>
              <a:gd name="connsiteY2" fmla="*/ 0 h 216000"/>
              <a:gd name="connsiteX3" fmla="*/ 1458168 w 1512168"/>
              <a:gd name="connsiteY3" fmla="*/ 216000 h 216000"/>
              <a:gd name="connsiteX4" fmla="*/ 0 w 1512168"/>
              <a:gd name="connsiteY4" fmla="*/ 216000 h 216000"/>
              <a:gd name="connsiteX0-1" fmla="*/ 0 w 1512168"/>
              <a:gd name="connsiteY0-2" fmla="*/ 216000 h 216024"/>
              <a:gd name="connsiteX1-3" fmla="*/ 54000 w 1512168"/>
              <a:gd name="connsiteY1-4" fmla="*/ 0 h 216024"/>
              <a:gd name="connsiteX2-5" fmla="*/ 1512168 w 1512168"/>
              <a:gd name="connsiteY2-6" fmla="*/ 0 h 216024"/>
              <a:gd name="connsiteX3-7" fmla="*/ 1368152 w 1512168"/>
              <a:gd name="connsiteY3-8" fmla="*/ 216024 h 216024"/>
              <a:gd name="connsiteX4-9" fmla="*/ 0 w 1512168"/>
              <a:gd name="connsiteY4-10" fmla="*/ 216000 h 216024"/>
              <a:gd name="connsiteX0-11" fmla="*/ 0 w 1512168"/>
              <a:gd name="connsiteY0-12" fmla="*/ 216000 h 216024"/>
              <a:gd name="connsiteX1-13" fmla="*/ 144016 w 1512168"/>
              <a:gd name="connsiteY1-14" fmla="*/ 0 h 216024"/>
              <a:gd name="connsiteX2-15" fmla="*/ 1512168 w 1512168"/>
              <a:gd name="connsiteY2-16" fmla="*/ 0 h 216024"/>
              <a:gd name="connsiteX3-17" fmla="*/ 1368152 w 1512168"/>
              <a:gd name="connsiteY3-18" fmla="*/ 216024 h 216024"/>
              <a:gd name="connsiteX4-19" fmla="*/ 0 w 1512168"/>
              <a:gd name="connsiteY4-20" fmla="*/ 216000 h 2160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512168" h="216024">
                <a:moveTo>
                  <a:pt x="0" y="216000"/>
                </a:moveTo>
                <a:lnTo>
                  <a:pt x="144016" y="0"/>
                </a:lnTo>
                <a:lnTo>
                  <a:pt x="1512168" y="0"/>
                </a:lnTo>
                <a:lnTo>
                  <a:pt x="1368152" y="216024"/>
                </a:lnTo>
                <a:lnTo>
                  <a:pt x="0" y="216000"/>
                </a:lnTo>
                <a:close/>
              </a:path>
            </a:pathLst>
          </a:custGeom>
          <a:solidFill>
            <a:srgbClr val="00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手动输入 7"/>
          <p:cNvSpPr/>
          <p:nvPr/>
        </p:nvSpPr>
        <p:spPr>
          <a:xfrm rot="5400000" flipH="1">
            <a:off x="3808071" y="-214716"/>
            <a:ext cx="1013226" cy="4547080"/>
          </a:xfrm>
          <a:prstGeom prst="flowChartManualInput">
            <a:avLst/>
          </a:prstGeom>
          <a:solidFill>
            <a:srgbClr val="0042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041144" y="1765523"/>
            <a:ext cx="382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用例图介绍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—— 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吴文迪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46"/>
          <p:cNvSpPr txBox="1">
            <a:spLocks noChangeArrowheads="1"/>
          </p:cNvSpPr>
          <p:nvPr/>
        </p:nvSpPr>
        <p:spPr bwMode="auto">
          <a:xfrm>
            <a:off x="2833232" y="2947268"/>
            <a:ext cx="2072611" cy="324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7404" tIns="38702" rIns="77404" bIns="3870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itchFamily="2" charset="2"/>
              <a:buChar char="ü"/>
            </a:pPr>
            <a:r>
              <a:rPr lang="zh-CN" altLang="en-US" sz="1600" b="1" dirty="0" smtClean="0"/>
              <a:t>用例图介绍 </a:t>
            </a:r>
            <a:endParaRPr lang="zh-CN" altLang="zh-CN" sz="1600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725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1"/>
          <p:cNvSpPr/>
          <p:nvPr/>
        </p:nvSpPr>
        <p:spPr>
          <a:xfrm>
            <a:off x="0" y="274202"/>
            <a:ext cx="2411760" cy="360040"/>
          </a:xfrm>
          <a:prstGeom prst="homePlate">
            <a:avLst/>
          </a:pr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TextBox 14"/>
          <p:cNvSpPr txBox="1">
            <a:spLocks noChangeArrowheads="1"/>
          </p:cNvSpPr>
          <p:nvPr/>
        </p:nvSpPr>
        <p:spPr bwMode="auto">
          <a:xfrm>
            <a:off x="107504" y="286698"/>
            <a:ext cx="2016224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CN" altLang="en-US" sz="1600" b="1" kern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用例图介绍</a:t>
            </a:r>
          </a:p>
        </p:txBody>
      </p:sp>
      <p:sp>
        <p:nvSpPr>
          <p:cNvPr id="12" name="矩形 11"/>
          <p:cNvSpPr/>
          <p:nvPr/>
        </p:nvSpPr>
        <p:spPr>
          <a:xfrm>
            <a:off x="6363636" y="3112783"/>
            <a:ext cx="14401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9" name="Picture 5" descr="E:\团队项目\微信图片_20180327200859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648" y="636913"/>
            <a:ext cx="7488831" cy="5078087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1" rIns="91424" bIns="45711" rtlCol="0" anchor="ctr"/>
          <a:lstStyle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2041144" y="1705372"/>
            <a:ext cx="5112568" cy="2808312"/>
          </a:xfrm>
          <a:prstGeom prst="roundRect">
            <a:avLst>
              <a:gd name="adj" fmla="val 4780"/>
            </a:avLst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/>
          <p:cNvSpPr/>
          <p:nvPr/>
        </p:nvSpPr>
        <p:spPr>
          <a:xfrm flipH="1">
            <a:off x="6649656" y="3865612"/>
            <a:ext cx="504056" cy="648072"/>
          </a:xfrm>
          <a:prstGeom prst="rtTriangle">
            <a:avLst/>
          </a:prstGeom>
          <a:solidFill>
            <a:srgbClr val="0042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6865680" y="4270524"/>
            <a:ext cx="216000" cy="216000"/>
            <a:chOff x="360000" y="2682000"/>
            <a:chExt cx="288032" cy="288032"/>
          </a:xfrm>
        </p:grpSpPr>
        <p:sp>
          <p:nvSpPr>
            <p:cNvPr id="5" name="椭圆 4"/>
            <p:cNvSpPr/>
            <p:nvPr/>
          </p:nvSpPr>
          <p:spPr>
            <a:xfrm>
              <a:off x="360000" y="2682000"/>
              <a:ext cx="288032" cy="288032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右箭头 5"/>
            <p:cNvSpPr/>
            <p:nvPr/>
          </p:nvSpPr>
          <p:spPr>
            <a:xfrm>
              <a:off x="431560" y="2780936"/>
              <a:ext cx="180000" cy="72000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任意多边形 6"/>
          <p:cNvSpPr/>
          <p:nvPr/>
        </p:nvSpPr>
        <p:spPr>
          <a:xfrm flipH="1">
            <a:off x="2041143" y="1552211"/>
            <a:ext cx="1830723" cy="152543"/>
          </a:xfrm>
          <a:custGeom>
            <a:avLst/>
            <a:gdLst>
              <a:gd name="connsiteX0" fmla="*/ 0 w 1512168"/>
              <a:gd name="connsiteY0" fmla="*/ 216000 h 216000"/>
              <a:gd name="connsiteX1" fmla="*/ 54000 w 1512168"/>
              <a:gd name="connsiteY1" fmla="*/ 0 h 216000"/>
              <a:gd name="connsiteX2" fmla="*/ 1512168 w 1512168"/>
              <a:gd name="connsiteY2" fmla="*/ 0 h 216000"/>
              <a:gd name="connsiteX3" fmla="*/ 1458168 w 1512168"/>
              <a:gd name="connsiteY3" fmla="*/ 216000 h 216000"/>
              <a:gd name="connsiteX4" fmla="*/ 0 w 1512168"/>
              <a:gd name="connsiteY4" fmla="*/ 216000 h 216000"/>
              <a:gd name="connsiteX0-1" fmla="*/ 0 w 1512168"/>
              <a:gd name="connsiteY0-2" fmla="*/ 216000 h 216024"/>
              <a:gd name="connsiteX1-3" fmla="*/ 54000 w 1512168"/>
              <a:gd name="connsiteY1-4" fmla="*/ 0 h 216024"/>
              <a:gd name="connsiteX2-5" fmla="*/ 1512168 w 1512168"/>
              <a:gd name="connsiteY2-6" fmla="*/ 0 h 216024"/>
              <a:gd name="connsiteX3-7" fmla="*/ 1368152 w 1512168"/>
              <a:gd name="connsiteY3-8" fmla="*/ 216024 h 216024"/>
              <a:gd name="connsiteX4-9" fmla="*/ 0 w 1512168"/>
              <a:gd name="connsiteY4-10" fmla="*/ 216000 h 216024"/>
              <a:gd name="connsiteX0-11" fmla="*/ 0 w 1512168"/>
              <a:gd name="connsiteY0-12" fmla="*/ 216000 h 216024"/>
              <a:gd name="connsiteX1-13" fmla="*/ 144016 w 1512168"/>
              <a:gd name="connsiteY1-14" fmla="*/ 0 h 216024"/>
              <a:gd name="connsiteX2-15" fmla="*/ 1512168 w 1512168"/>
              <a:gd name="connsiteY2-16" fmla="*/ 0 h 216024"/>
              <a:gd name="connsiteX3-17" fmla="*/ 1368152 w 1512168"/>
              <a:gd name="connsiteY3-18" fmla="*/ 216024 h 216024"/>
              <a:gd name="connsiteX4-19" fmla="*/ 0 w 1512168"/>
              <a:gd name="connsiteY4-20" fmla="*/ 216000 h 2160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512168" h="216024">
                <a:moveTo>
                  <a:pt x="0" y="216000"/>
                </a:moveTo>
                <a:lnTo>
                  <a:pt x="144016" y="0"/>
                </a:lnTo>
                <a:lnTo>
                  <a:pt x="1512168" y="0"/>
                </a:lnTo>
                <a:lnTo>
                  <a:pt x="1368152" y="216024"/>
                </a:lnTo>
                <a:lnTo>
                  <a:pt x="0" y="216000"/>
                </a:lnTo>
                <a:close/>
              </a:path>
            </a:pathLst>
          </a:custGeom>
          <a:solidFill>
            <a:srgbClr val="00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手动输入 7"/>
          <p:cNvSpPr/>
          <p:nvPr/>
        </p:nvSpPr>
        <p:spPr>
          <a:xfrm rot="5400000" flipH="1">
            <a:off x="3808071" y="-214716"/>
            <a:ext cx="1013226" cy="4547080"/>
          </a:xfrm>
          <a:prstGeom prst="flowChartManualInput">
            <a:avLst/>
          </a:prstGeom>
          <a:solidFill>
            <a:srgbClr val="0042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041144" y="1765523"/>
            <a:ext cx="4043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需求介绍（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—— 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李俊华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46"/>
          <p:cNvSpPr txBox="1">
            <a:spLocks noChangeArrowheads="1"/>
          </p:cNvSpPr>
          <p:nvPr/>
        </p:nvSpPr>
        <p:spPr bwMode="auto">
          <a:xfrm>
            <a:off x="2833232" y="2947268"/>
            <a:ext cx="2072611" cy="570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7404" tIns="38702" rIns="77404" bIns="3870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itchFamily="2" charset="2"/>
              <a:buChar char="ü"/>
            </a:pPr>
            <a:r>
              <a:rPr lang="zh-CN" altLang="zh-CN" sz="1600" dirty="0" smtClean="0"/>
              <a:t>进行软件更新</a:t>
            </a:r>
          </a:p>
          <a:p>
            <a:pPr>
              <a:buFont typeface="Wingdings" pitchFamily="2" charset="2"/>
              <a:buChar char="ü"/>
            </a:pPr>
            <a:endParaRPr lang="zh-CN" altLang="zh-CN" sz="1600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775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1"/>
          <p:cNvSpPr/>
          <p:nvPr/>
        </p:nvSpPr>
        <p:spPr>
          <a:xfrm>
            <a:off x="0" y="274202"/>
            <a:ext cx="2915816" cy="360040"/>
          </a:xfrm>
          <a:prstGeom prst="homePlate">
            <a:avLst/>
          </a:pr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TextBox 14"/>
          <p:cNvSpPr txBox="1">
            <a:spLocks noChangeArrowheads="1"/>
          </p:cNvSpPr>
          <p:nvPr/>
        </p:nvSpPr>
        <p:spPr bwMode="auto">
          <a:xfrm>
            <a:off x="107504" y="286699"/>
            <a:ext cx="2376264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sz="1600" b="1" dirty="0" smtClean="0">
                <a:solidFill>
                  <a:schemeClr val="bg1"/>
                </a:solidFill>
              </a:rPr>
              <a:t>需求</a:t>
            </a:r>
            <a:r>
              <a:rPr lang="en-US" altLang="zh-CN" sz="1600" b="1" dirty="0" smtClean="0">
                <a:solidFill>
                  <a:schemeClr val="bg1"/>
                </a:solidFill>
              </a:rPr>
              <a:t>——</a:t>
            </a:r>
            <a:r>
              <a:rPr lang="zh-CN" altLang="zh-CN" sz="1600" b="1" dirty="0" smtClean="0">
                <a:solidFill>
                  <a:schemeClr val="bg1"/>
                </a:solidFill>
              </a:rPr>
              <a:t>进行软件更新</a:t>
            </a:r>
          </a:p>
        </p:txBody>
      </p:sp>
      <p:sp>
        <p:nvSpPr>
          <p:cNvPr id="12" name="矩形 11"/>
          <p:cNvSpPr/>
          <p:nvPr/>
        </p:nvSpPr>
        <p:spPr>
          <a:xfrm>
            <a:off x="6363636" y="3112783"/>
            <a:ext cx="14401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3528" y="985292"/>
            <a:ext cx="842493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介绍：</a:t>
            </a:r>
            <a:r>
              <a:rPr lang="zh-CN" altLang="zh-CN" dirty="0" smtClean="0"/>
              <a:t>用户进入到自动更新管理软件平台后，在操作界面可以看到软件更新按钮，点击软件更新后可对软件整体更新或部分更新进行选择</a:t>
            </a:r>
            <a:r>
              <a:rPr lang="en-US" altLang="zh-CN" dirty="0" smtClean="0"/>
              <a:t>:</a:t>
            </a:r>
          </a:p>
          <a:p>
            <a:endParaRPr lang="zh-CN" altLang="zh-CN" dirty="0" smtClean="0"/>
          </a:p>
          <a:p>
            <a:r>
              <a:rPr lang="zh-CN" altLang="zh-CN" b="1" dirty="0" smtClean="0"/>
              <a:t>用例描述：</a:t>
            </a:r>
            <a:r>
              <a:rPr lang="zh-CN" altLang="zh-CN" dirty="0" smtClean="0"/>
              <a:t>进行软件更新</a:t>
            </a:r>
          </a:p>
          <a:p>
            <a:endParaRPr lang="en-US" altLang="zh-CN" b="1" dirty="0" smtClean="0"/>
          </a:p>
          <a:p>
            <a:r>
              <a:rPr lang="zh-CN" altLang="zh-CN" b="1" dirty="0" smtClean="0"/>
              <a:t>执行者：</a:t>
            </a:r>
            <a:r>
              <a:rPr lang="zh-CN" altLang="zh-CN" dirty="0" smtClean="0"/>
              <a:t>用户</a:t>
            </a:r>
          </a:p>
          <a:p>
            <a:endParaRPr lang="en-US" altLang="zh-CN" b="1" dirty="0" smtClean="0"/>
          </a:p>
          <a:p>
            <a:r>
              <a:rPr lang="zh-CN" altLang="zh-CN" b="1" dirty="0" smtClean="0"/>
              <a:t>基本路径：</a:t>
            </a:r>
          </a:p>
          <a:p>
            <a:r>
              <a:rPr lang="en-US" altLang="zh-CN" dirty="0" smtClean="0"/>
              <a:t>a)</a:t>
            </a:r>
            <a:r>
              <a:rPr lang="zh-CN" altLang="zh-CN" dirty="0" smtClean="0"/>
              <a:t>用户进入到自动更新管理软件平台后，显示“软件更新”按钮。</a:t>
            </a:r>
          </a:p>
          <a:p>
            <a:r>
              <a:rPr lang="en-US" altLang="zh-CN" dirty="0" smtClean="0"/>
              <a:t>b)</a:t>
            </a:r>
            <a:r>
              <a:rPr lang="zh-CN" altLang="zh-CN" dirty="0" smtClean="0"/>
              <a:t>用户点击“软件更新”按钮后选择进行软件的“整体更新”或“部分更新”。</a:t>
            </a:r>
          </a:p>
          <a:p>
            <a:r>
              <a:rPr lang="en-US" altLang="zh-CN" dirty="0" smtClean="0"/>
              <a:t>c)</a:t>
            </a:r>
            <a:r>
              <a:rPr lang="zh-CN" altLang="zh-CN" dirty="0" smtClean="0"/>
              <a:t>选择完成后，软件进行文件拷贝、更改配置信息、生成更新日志记录一系列操作，最后完成更新后返回到软件初始操作界面，并根据更新内容决定是否进行重启完成更新。</a:t>
            </a:r>
          </a:p>
          <a:p>
            <a:endParaRPr lang="zh-CN" altLang="en-US" dirty="0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1"/>
          <p:cNvSpPr/>
          <p:nvPr/>
        </p:nvSpPr>
        <p:spPr>
          <a:xfrm>
            <a:off x="0" y="274202"/>
            <a:ext cx="2915816" cy="360040"/>
          </a:xfrm>
          <a:prstGeom prst="homePlate">
            <a:avLst/>
          </a:pr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TextBox 14"/>
          <p:cNvSpPr txBox="1">
            <a:spLocks noChangeArrowheads="1"/>
          </p:cNvSpPr>
          <p:nvPr/>
        </p:nvSpPr>
        <p:spPr bwMode="auto">
          <a:xfrm>
            <a:off x="107504" y="286699"/>
            <a:ext cx="2592288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sz="1600" b="1" dirty="0" smtClean="0">
                <a:solidFill>
                  <a:schemeClr val="bg1"/>
                </a:solidFill>
              </a:rPr>
              <a:t>活动图</a:t>
            </a:r>
            <a:r>
              <a:rPr lang="en-US" altLang="zh-CN" sz="1600" b="1" dirty="0" smtClean="0">
                <a:solidFill>
                  <a:schemeClr val="bg1"/>
                </a:solidFill>
              </a:rPr>
              <a:t>——</a:t>
            </a:r>
            <a:r>
              <a:rPr lang="zh-CN" altLang="zh-CN" sz="1600" b="1" dirty="0" smtClean="0">
                <a:solidFill>
                  <a:schemeClr val="bg1"/>
                </a:solidFill>
              </a:rPr>
              <a:t>进行软件更新</a:t>
            </a:r>
          </a:p>
        </p:txBody>
      </p:sp>
      <p:sp>
        <p:nvSpPr>
          <p:cNvPr id="12" name="矩形 11"/>
          <p:cNvSpPr/>
          <p:nvPr/>
        </p:nvSpPr>
        <p:spPr>
          <a:xfrm>
            <a:off x="6363636" y="3112783"/>
            <a:ext cx="14401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E:\团队项目\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15816" y="193204"/>
            <a:ext cx="5832648" cy="5360109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1" rIns="91424" bIns="45711" rtlCol="0" anchor="ctr"/>
          <a:lstStyle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2041144" y="1705372"/>
            <a:ext cx="5112568" cy="2808312"/>
          </a:xfrm>
          <a:prstGeom prst="roundRect">
            <a:avLst>
              <a:gd name="adj" fmla="val 4780"/>
            </a:avLst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/>
          <p:cNvSpPr/>
          <p:nvPr/>
        </p:nvSpPr>
        <p:spPr>
          <a:xfrm flipH="1">
            <a:off x="6649656" y="3865612"/>
            <a:ext cx="504056" cy="648072"/>
          </a:xfrm>
          <a:prstGeom prst="rtTriangle">
            <a:avLst/>
          </a:prstGeom>
          <a:solidFill>
            <a:srgbClr val="0042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6865680" y="4270524"/>
            <a:ext cx="216000" cy="216000"/>
            <a:chOff x="360000" y="2682000"/>
            <a:chExt cx="288032" cy="288032"/>
          </a:xfrm>
        </p:grpSpPr>
        <p:sp>
          <p:nvSpPr>
            <p:cNvPr id="5" name="椭圆 4"/>
            <p:cNvSpPr/>
            <p:nvPr/>
          </p:nvSpPr>
          <p:spPr>
            <a:xfrm>
              <a:off x="360000" y="2682000"/>
              <a:ext cx="288032" cy="288032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右箭头 5"/>
            <p:cNvSpPr/>
            <p:nvPr/>
          </p:nvSpPr>
          <p:spPr>
            <a:xfrm>
              <a:off x="431560" y="2780936"/>
              <a:ext cx="180000" cy="72000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任意多边形 6"/>
          <p:cNvSpPr/>
          <p:nvPr/>
        </p:nvSpPr>
        <p:spPr>
          <a:xfrm flipH="1">
            <a:off x="2041143" y="1552211"/>
            <a:ext cx="1830723" cy="152543"/>
          </a:xfrm>
          <a:custGeom>
            <a:avLst/>
            <a:gdLst>
              <a:gd name="connsiteX0" fmla="*/ 0 w 1512168"/>
              <a:gd name="connsiteY0" fmla="*/ 216000 h 216000"/>
              <a:gd name="connsiteX1" fmla="*/ 54000 w 1512168"/>
              <a:gd name="connsiteY1" fmla="*/ 0 h 216000"/>
              <a:gd name="connsiteX2" fmla="*/ 1512168 w 1512168"/>
              <a:gd name="connsiteY2" fmla="*/ 0 h 216000"/>
              <a:gd name="connsiteX3" fmla="*/ 1458168 w 1512168"/>
              <a:gd name="connsiteY3" fmla="*/ 216000 h 216000"/>
              <a:gd name="connsiteX4" fmla="*/ 0 w 1512168"/>
              <a:gd name="connsiteY4" fmla="*/ 216000 h 216000"/>
              <a:gd name="connsiteX0-1" fmla="*/ 0 w 1512168"/>
              <a:gd name="connsiteY0-2" fmla="*/ 216000 h 216024"/>
              <a:gd name="connsiteX1-3" fmla="*/ 54000 w 1512168"/>
              <a:gd name="connsiteY1-4" fmla="*/ 0 h 216024"/>
              <a:gd name="connsiteX2-5" fmla="*/ 1512168 w 1512168"/>
              <a:gd name="connsiteY2-6" fmla="*/ 0 h 216024"/>
              <a:gd name="connsiteX3-7" fmla="*/ 1368152 w 1512168"/>
              <a:gd name="connsiteY3-8" fmla="*/ 216024 h 216024"/>
              <a:gd name="connsiteX4-9" fmla="*/ 0 w 1512168"/>
              <a:gd name="connsiteY4-10" fmla="*/ 216000 h 216024"/>
              <a:gd name="connsiteX0-11" fmla="*/ 0 w 1512168"/>
              <a:gd name="connsiteY0-12" fmla="*/ 216000 h 216024"/>
              <a:gd name="connsiteX1-13" fmla="*/ 144016 w 1512168"/>
              <a:gd name="connsiteY1-14" fmla="*/ 0 h 216024"/>
              <a:gd name="connsiteX2-15" fmla="*/ 1512168 w 1512168"/>
              <a:gd name="connsiteY2-16" fmla="*/ 0 h 216024"/>
              <a:gd name="connsiteX3-17" fmla="*/ 1368152 w 1512168"/>
              <a:gd name="connsiteY3-18" fmla="*/ 216024 h 216024"/>
              <a:gd name="connsiteX4-19" fmla="*/ 0 w 1512168"/>
              <a:gd name="connsiteY4-20" fmla="*/ 216000 h 2160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512168" h="216024">
                <a:moveTo>
                  <a:pt x="0" y="216000"/>
                </a:moveTo>
                <a:lnTo>
                  <a:pt x="144016" y="0"/>
                </a:lnTo>
                <a:lnTo>
                  <a:pt x="1512168" y="0"/>
                </a:lnTo>
                <a:lnTo>
                  <a:pt x="1368152" y="216024"/>
                </a:lnTo>
                <a:lnTo>
                  <a:pt x="0" y="216000"/>
                </a:lnTo>
                <a:close/>
              </a:path>
            </a:pathLst>
          </a:custGeom>
          <a:solidFill>
            <a:srgbClr val="00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手动输入 7"/>
          <p:cNvSpPr/>
          <p:nvPr/>
        </p:nvSpPr>
        <p:spPr>
          <a:xfrm rot="5400000" flipH="1">
            <a:off x="3808071" y="-214716"/>
            <a:ext cx="1013226" cy="4547080"/>
          </a:xfrm>
          <a:prstGeom prst="flowChartManualInput">
            <a:avLst/>
          </a:prstGeom>
          <a:solidFill>
            <a:srgbClr val="0042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041144" y="1765523"/>
            <a:ext cx="4187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需求介绍（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徐天诚</a:t>
            </a:r>
          </a:p>
        </p:txBody>
      </p:sp>
      <p:sp>
        <p:nvSpPr>
          <p:cNvPr id="10" name="TextBox 146"/>
          <p:cNvSpPr txBox="1">
            <a:spLocks noChangeArrowheads="1"/>
          </p:cNvSpPr>
          <p:nvPr/>
        </p:nvSpPr>
        <p:spPr bwMode="auto">
          <a:xfrm>
            <a:off x="2833232" y="2947268"/>
            <a:ext cx="2890896" cy="324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7404" tIns="38702" rIns="77404" bIns="3870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itchFamily="2" charset="2"/>
              <a:buChar char="ü"/>
            </a:pPr>
            <a:r>
              <a:rPr lang="zh-CN" altLang="en-US" sz="1600" b="1" dirty="0" smtClean="0"/>
              <a:t> 查看更新记录 </a:t>
            </a:r>
            <a:endParaRPr lang="zh-CN" altLang="zh-CN" sz="1600" b="1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75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1"/>
          <p:cNvSpPr/>
          <p:nvPr/>
        </p:nvSpPr>
        <p:spPr>
          <a:xfrm>
            <a:off x="0" y="274202"/>
            <a:ext cx="3131840" cy="360040"/>
          </a:xfrm>
          <a:prstGeom prst="homePlate">
            <a:avLst/>
          </a:pr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TextBox 14"/>
          <p:cNvSpPr txBox="1">
            <a:spLocks noChangeArrowheads="1"/>
          </p:cNvSpPr>
          <p:nvPr/>
        </p:nvSpPr>
        <p:spPr bwMode="auto">
          <a:xfrm>
            <a:off x="107504" y="286698"/>
            <a:ext cx="2736304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sz="1600" b="1" dirty="0" smtClean="0">
                <a:solidFill>
                  <a:schemeClr val="bg1"/>
                </a:solidFill>
              </a:rPr>
              <a:t>需求</a:t>
            </a:r>
            <a:r>
              <a:rPr lang="en-US" altLang="zh-CN" sz="16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 smtClean="0">
                <a:solidFill>
                  <a:schemeClr val="bg1"/>
                </a:solidFill>
              </a:rPr>
              <a:t>查看更新记录</a:t>
            </a:r>
            <a:endParaRPr lang="zh-CN" altLang="zh-CN" sz="1600" b="1" dirty="0" smtClean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63636" y="3112783"/>
            <a:ext cx="14401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3528" y="985292"/>
            <a:ext cx="84249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介绍：</a:t>
            </a:r>
            <a:endParaRPr lang="en-US" altLang="zh-CN" b="1" dirty="0" smtClean="0"/>
          </a:p>
          <a:p>
            <a:r>
              <a:rPr lang="zh-CN" altLang="zh-CN" dirty="0" smtClean="0"/>
              <a:t>用户进入到自动更新管理软件平台后，在操作界面可以看到“查看更新记录”按钮，点击后可对软件更新记录进行浏览</a:t>
            </a:r>
            <a:r>
              <a:rPr lang="en-US" altLang="zh-CN" dirty="0" smtClean="0"/>
              <a:t>:</a:t>
            </a:r>
          </a:p>
          <a:p>
            <a:endParaRPr lang="zh-CN" altLang="zh-CN" dirty="0" smtClean="0"/>
          </a:p>
          <a:p>
            <a:r>
              <a:rPr lang="zh-CN" altLang="zh-CN" b="1" dirty="0" smtClean="0"/>
              <a:t>用例描述：</a:t>
            </a:r>
            <a:r>
              <a:rPr lang="zh-CN" altLang="zh-CN" dirty="0" smtClean="0"/>
              <a:t>查看更新记录</a:t>
            </a:r>
            <a:endParaRPr lang="en-US" altLang="zh-CN" dirty="0" smtClean="0"/>
          </a:p>
          <a:p>
            <a:endParaRPr lang="zh-CN" altLang="zh-CN" dirty="0" smtClean="0"/>
          </a:p>
          <a:p>
            <a:r>
              <a:rPr lang="zh-CN" altLang="zh-CN" b="1" dirty="0" smtClean="0"/>
              <a:t>执行者：</a:t>
            </a:r>
            <a:r>
              <a:rPr lang="zh-CN" altLang="zh-CN" dirty="0" smtClean="0"/>
              <a:t>用户</a:t>
            </a:r>
            <a:endParaRPr lang="en-US" altLang="zh-CN" dirty="0" smtClean="0"/>
          </a:p>
          <a:p>
            <a:endParaRPr lang="zh-CN" altLang="zh-CN" dirty="0" smtClean="0"/>
          </a:p>
          <a:p>
            <a:r>
              <a:rPr lang="zh-CN" altLang="zh-CN" b="1" dirty="0" smtClean="0"/>
              <a:t>基本路径：</a:t>
            </a:r>
          </a:p>
          <a:p>
            <a:r>
              <a:rPr lang="en-US" altLang="zh-CN" dirty="0" smtClean="0"/>
              <a:t>a)</a:t>
            </a:r>
            <a:r>
              <a:rPr lang="zh-CN" altLang="zh-CN" dirty="0" smtClean="0"/>
              <a:t>用户进入到自动更新管理软件平台后，显示“查看更新记录”按钮。</a:t>
            </a:r>
          </a:p>
          <a:p>
            <a:r>
              <a:rPr lang="en-US" altLang="zh-CN" dirty="0" smtClean="0"/>
              <a:t>b)</a:t>
            </a:r>
            <a:r>
              <a:rPr lang="zh-CN" altLang="zh-CN" dirty="0" smtClean="0"/>
              <a:t>用户点击“查看更新记录”按钮后，显示以往保存的更新日志记录。</a:t>
            </a:r>
            <a:endParaRPr lang="zh-CN" altLang="zh-CN" dirty="0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1"/>
          <p:cNvSpPr/>
          <p:nvPr/>
        </p:nvSpPr>
        <p:spPr>
          <a:xfrm>
            <a:off x="0" y="274202"/>
            <a:ext cx="2915816" cy="360040"/>
          </a:xfrm>
          <a:prstGeom prst="homePlate">
            <a:avLst/>
          </a:pr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TextBox 14"/>
          <p:cNvSpPr txBox="1">
            <a:spLocks noChangeArrowheads="1"/>
          </p:cNvSpPr>
          <p:nvPr/>
        </p:nvSpPr>
        <p:spPr bwMode="auto">
          <a:xfrm>
            <a:off x="107504" y="286699"/>
            <a:ext cx="2592288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sz="1600" b="1" dirty="0" smtClean="0">
                <a:solidFill>
                  <a:schemeClr val="bg1"/>
                </a:solidFill>
              </a:rPr>
              <a:t>活动图</a:t>
            </a:r>
            <a:r>
              <a:rPr lang="en-US" altLang="zh-CN" sz="16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 smtClean="0">
                <a:solidFill>
                  <a:schemeClr val="bg1"/>
                </a:solidFill>
              </a:rPr>
              <a:t>查看更新记录</a:t>
            </a:r>
            <a:endParaRPr lang="zh-CN" altLang="zh-CN" sz="1600" b="1" dirty="0" smtClean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63636" y="3112783"/>
            <a:ext cx="14401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71800" y="193204"/>
            <a:ext cx="5734050" cy="529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1" rIns="91424" bIns="45711" rtlCol="0" anchor="ctr"/>
          <a:lstStyle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2041144" y="1705372"/>
            <a:ext cx="5112568" cy="2808312"/>
          </a:xfrm>
          <a:prstGeom prst="roundRect">
            <a:avLst>
              <a:gd name="adj" fmla="val 4780"/>
            </a:avLst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/>
          <p:cNvSpPr/>
          <p:nvPr/>
        </p:nvSpPr>
        <p:spPr>
          <a:xfrm flipH="1">
            <a:off x="6649656" y="3865612"/>
            <a:ext cx="504056" cy="648072"/>
          </a:xfrm>
          <a:prstGeom prst="rtTriangle">
            <a:avLst/>
          </a:prstGeom>
          <a:solidFill>
            <a:srgbClr val="0042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6865680" y="4270524"/>
            <a:ext cx="216000" cy="216000"/>
            <a:chOff x="360000" y="2682000"/>
            <a:chExt cx="288032" cy="288032"/>
          </a:xfrm>
        </p:grpSpPr>
        <p:sp>
          <p:nvSpPr>
            <p:cNvPr id="5" name="椭圆 4"/>
            <p:cNvSpPr/>
            <p:nvPr/>
          </p:nvSpPr>
          <p:spPr>
            <a:xfrm>
              <a:off x="360000" y="2682000"/>
              <a:ext cx="288032" cy="288032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右箭头 5"/>
            <p:cNvSpPr/>
            <p:nvPr/>
          </p:nvSpPr>
          <p:spPr>
            <a:xfrm>
              <a:off x="431560" y="2780936"/>
              <a:ext cx="180000" cy="72000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任意多边形 6"/>
          <p:cNvSpPr/>
          <p:nvPr/>
        </p:nvSpPr>
        <p:spPr>
          <a:xfrm flipH="1">
            <a:off x="2041143" y="1552211"/>
            <a:ext cx="1830723" cy="152543"/>
          </a:xfrm>
          <a:custGeom>
            <a:avLst/>
            <a:gdLst>
              <a:gd name="connsiteX0" fmla="*/ 0 w 1512168"/>
              <a:gd name="connsiteY0" fmla="*/ 216000 h 216000"/>
              <a:gd name="connsiteX1" fmla="*/ 54000 w 1512168"/>
              <a:gd name="connsiteY1" fmla="*/ 0 h 216000"/>
              <a:gd name="connsiteX2" fmla="*/ 1512168 w 1512168"/>
              <a:gd name="connsiteY2" fmla="*/ 0 h 216000"/>
              <a:gd name="connsiteX3" fmla="*/ 1458168 w 1512168"/>
              <a:gd name="connsiteY3" fmla="*/ 216000 h 216000"/>
              <a:gd name="connsiteX4" fmla="*/ 0 w 1512168"/>
              <a:gd name="connsiteY4" fmla="*/ 216000 h 216000"/>
              <a:gd name="connsiteX0-1" fmla="*/ 0 w 1512168"/>
              <a:gd name="connsiteY0-2" fmla="*/ 216000 h 216024"/>
              <a:gd name="connsiteX1-3" fmla="*/ 54000 w 1512168"/>
              <a:gd name="connsiteY1-4" fmla="*/ 0 h 216024"/>
              <a:gd name="connsiteX2-5" fmla="*/ 1512168 w 1512168"/>
              <a:gd name="connsiteY2-6" fmla="*/ 0 h 216024"/>
              <a:gd name="connsiteX3-7" fmla="*/ 1368152 w 1512168"/>
              <a:gd name="connsiteY3-8" fmla="*/ 216024 h 216024"/>
              <a:gd name="connsiteX4-9" fmla="*/ 0 w 1512168"/>
              <a:gd name="connsiteY4-10" fmla="*/ 216000 h 216024"/>
              <a:gd name="connsiteX0-11" fmla="*/ 0 w 1512168"/>
              <a:gd name="connsiteY0-12" fmla="*/ 216000 h 216024"/>
              <a:gd name="connsiteX1-13" fmla="*/ 144016 w 1512168"/>
              <a:gd name="connsiteY1-14" fmla="*/ 0 h 216024"/>
              <a:gd name="connsiteX2-15" fmla="*/ 1512168 w 1512168"/>
              <a:gd name="connsiteY2-16" fmla="*/ 0 h 216024"/>
              <a:gd name="connsiteX3-17" fmla="*/ 1368152 w 1512168"/>
              <a:gd name="connsiteY3-18" fmla="*/ 216024 h 216024"/>
              <a:gd name="connsiteX4-19" fmla="*/ 0 w 1512168"/>
              <a:gd name="connsiteY4-20" fmla="*/ 216000 h 2160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512168" h="216024">
                <a:moveTo>
                  <a:pt x="0" y="216000"/>
                </a:moveTo>
                <a:lnTo>
                  <a:pt x="144016" y="0"/>
                </a:lnTo>
                <a:lnTo>
                  <a:pt x="1512168" y="0"/>
                </a:lnTo>
                <a:lnTo>
                  <a:pt x="1368152" y="216024"/>
                </a:lnTo>
                <a:lnTo>
                  <a:pt x="0" y="216000"/>
                </a:lnTo>
                <a:close/>
              </a:path>
            </a:pathLst>
          </a:custGeom>
          <a:solidFill>
            <a:srgbClr val="00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手动输入 7"/>
          <p:cNvSpPr/>
          <p:nvPr/>
        </p:nvSpPr>
        <p:spPr>
          <a:xfrm rot="5400000" flipH="1">
            <a:off x="3808071" y="-214716"/>
            <a:ext cx="1013226" cy="4547080"/>
          </a:xfrm>
          <a:prstGeom prst="flowChartManualInput">
            <a:avLst/>
          </a:prstGeom>
          <a:solidFill>
            <a:srgbClr val="0042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041144" y="1765523"/>
            <a:ext cx="4187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需求介绍（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梁智聪</a:t>
            </a:r>
          </a:p>
        </p:txBody>
      </p:sp>
      <p:sp>
        <p:nvSpPr>
          <p:cNvPr id="10" name="TextBox 146"/>
          <p:cNvSpPr txBox="1">
            <a:spLocks noChangeArrowheads="1"/>
          </p:cNvSpPr>
          <p:nvPr/>
        </p:nvSpPr>
        <p:spPr bwMode="auto">
          <a:xfrm>
            <a:off x="2833232" y="2947268"/>
            <a:ext cx="2890896" cy="324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7404" tIns="38702" rIns="77404" bIns="3870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itchFamily="2" charset="2"/>
              <a:buChar char="ü"/>
            </a:pPr>
            <a:r>
              <a:rPr lang="zh-CN" altLang="en-US" sz="1600" b="1" dirty="0" smtClean="0"/>
              <a:t>查看版本差异 </a:t>
            </a:r>
            <a:endParaRPr lang="zh-CN" altLang="zh-CN" sz="1600" b="1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75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1"/>
          <p:cNvSpPr/>
          <p:nvPr/>
        </p:nvSpPr>
        <p:spPr>
          <a:xfrm>
            <a:off x="0" y="274202"/>
            <a:ext cx="3131840" cy="360040"/>
          </a:xfrm>
          <a:prstGeom prst="homePlate">
            <a:avLst/>
          </a:pr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TextBox 14"/>
          <p:cNvSpPr txBox="1">
            <a:spLocks noChangeArrowheads="1"/>
          </p:cNvSpPr>
          <p:nvPr/>
        </p:nvSpPr>
        <p:spPr bwMode="auto">
          <a:xfrm>
            <a:off x="107504" y="286698"/>
            <a:ext cx="2736304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sz="1600" b="1" dirty="0" smtClean="0">
                <a:solidFill>
                  <a:schemeClr val="bg1"/>
                </a:solidFill>
              </a:rPr>
              <a:t>需求</a:t>
            </a:r>
            <a:r>
              <a:rPr lang="en-US" altLang="zh-CN" sz="16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 smtClean="0">
                <a:solidFill>
                  <a:schemeClr val="bg1"/>
                </a:solidFill>
              </a:rPr>
              <a:t>查看版本差异</a:t>
            </a:r>
            <a:endParaRPr lang="zh-CN" altLang="zh-CN" sz="1600" b="1" dirty="0" smtClean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63636" y="3112783"/>
            <a:ext cx="14401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3528" y="985292"/>
            <a:ext cx="84249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介绍：</a:t>
            </a:r>
            <a:endParaRPr lang="en-US" altLang="zh-CN" b="1" dirty="0" smtClean="0"/>
          </a:p>
          <a:p>
            <a:r>
              <a:rPr lang="zh-CN" altLang="zh-CN" dirty="0" smtClean="0"/>
              <a:t>用户进入到自动更新管理软件平台后，在操作界面可以看到“查看版本差异”按钮，点击后可查看更新前后版本的配置差异</a:t>
            </a:r>
            <a:r>
              <a:rPr lang="en-US" altLang="zh-CN" dirty="0" smtClean="0"/>
              <a:t>:</a:t>
            </a:r>
          </a:p>
          <a:p>
            <a:endParaRPr lang="zh-CN" altLang="zh-CN" dirty="0" smtClean="0"/>
          </a:p>
          <a:p>
            <a:r>
              <a:rPr lang="zh-CN" altLang="zh-CN" b="1" dirty="0" smtClean="0"/>
              <a:t>用例描述：</a:t>
            </a:r>
            <a:r>
              <a:rPr lang="zh-CN" altLang="zh-CN" dirty="0" smtClean="0"/>
              <a:t>查看版本差异</a:t>
            </a:r>
            <a:endParaRPr lang="en-US" altLang="zh-CN" dirty="0" smtClean="0"/>
          </a:p>
          <a:p>
            <a:endParaRPr lang="zh-CN" altLang="zh-CN" dirty="0" smtClean="0"/>
          </a:p>
          <a:p>
            <a:r>
              <a:rPr lang="zh-CN" altLang="zh-CN" b="1" dirty="0" smtClean="0"/>
              <a:t>执行者：</a:t>
            </a:r>
            <a:r>
              <a:rPr lang="zh-CN" altLang="zh-CN" dirty="0" smtClean="0"/>
              <a:t>用户</a:t>
            </a:r>
            <a:endParaRPr lang="en-US" altLang="zh-CN" dirty="0" smtClean="0"/>
          </a:p>
          <a:p>
            <a:endParaRPr lang="zh-CN" altLang="zh-CN" dirty="0" smtClean="0"/>
          </a:p>
          <a:p>
            <a:r>
              <a:rPr lang="zh-CN" altLang="zh-CN" b="1" dirty="0" smtClean="0"/>
              <a:t>基本路径：</a:t>
            </a:r>
          </a:p>
          <a:p>
            <a:r>
              <a:rPr lang="en-US" altLang="zh-CN" dirty="0" smtClean="0"/>
              <a:t>a)</a:t>
            </a:r>
            <a:r>
              <a:rPr lang="zh-CN" altLang="zh-CN" dirty="0" smtClean="0"/>
              <a:t>用户进入到自动更新管理软件平台后，显示“查看版本差异”按钮。</a:t>
            </a:r>
          </a:p>
          <a:p>
            <a:r>
              <a:rPr lang="en-US" altLang="zh-CN" dirty="0" smtClean="0"/>
              <a:t>b)</a:t>
            </a:r>
            <a:r>
              <a:rPr lang="zh-CN" altLang="zh-CN" dirty="0" smtClean="0"/>
              <a:t>用户点击“查看版本差异”按钮后，系统读取更新前后版本的配置信息并显示。</a:t>
            </a:r>
            <a:endParaRPr lang="zh-CN" altLang="zh-CN" dirty="0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1"/>
          <p:cNvSpPr/>
          <p:nvPr/>
        </p:nvSpPr>
        <p:spPr>
          <a:xfrm>
            <a:off x="0" y="274202"/>
            <a:ext cx="2915816" cy="360040"/>
          </a:xfrm>
          <a:prstGeom prst="homePlate">
            <a:avLst/>
          </a:pr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TextBox 14"/>
          <p:cNvSpPr txBox="1">
            <a:spLocks noChangeArrowheads="1"/>
          </p:cNvSpPr>
          <p:nvPr/>
        </p:nvSpPr>
        <p:spPr bwMode="auto">
          <a:xfrm>
            <a:off x="107504" y="286699"/>
            <a:ext cx="2592288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sz="1600" b="1" dirty="0" smtClean="0">
                <a:solidFill>
                  <a:schemeClr val="bg1"/>
                </a:solidFill>
              </a:rPr>
              <a:t>活动图</a:t>
            </a:r>
            <a:r>
              <a:rPr lang="en-US" altLang="zh-CN" sz="16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 smtClean="0">
                <a:solidFill>
                  <a:schemeClr val="bg1"/>
                </a:solidFill>
              </a:rPr>
              <a:t>查看版本差异</a:t>
            </a:r>
            <a:endParaRPr lang="zh-CN" altLang="zh-CN" sz="1600" b="1" dirty="0" smtClean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63636" y="3112783"/>
            <a:ext cx="14401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9832" y="193204"/>
            <a:ext cx="5667375" cy="53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1" rIns="91424" bIns="45711" rtlCol="0" anchor="ctr"/>
          <a:lstStyle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2041144" y="1705372"/>
            <a:ext cx="5112568" cy="2808312"/>
          </a:xfrm>
          <a:prstGeom prst="roundRect">
            <a:avLst>
              <a:gd name="adj" fmla="val 4780"/>
            </a:avLst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/>
          <p:cNvSpPr/>
          <p:nvPr/>
        </p:nvSpPr>
        <p:spPr>
          <a:xfrm flipH="1">
            <a:off x="6649656" y="3865612"/>
            <a:ext cx="504056" cy="648072"/>
          </a:xfrm>
          <a:prstGeom prst="rtTriangle">
            <a:avLst/>
          </a:prstGeom>
          <a:solidFill>
            <a:srgbClr val="0042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6865680" y="4270524"/>
            <a:ext cx="216000" cy="216000"/>
            <a:chOff x="360000" y="2682000"/>
            <a:chExt cx="288032" cy="288032"/>
          </a:xfrm>
        </p:grpSpPr>
        <p:sp>
          <p:nvSpPr>
            <p:cNvPr id="5" name="椭圆 4"/>
            <p:cNvSpPr/>
            <p:nvPr/>
          </p:nvSpPr>
          <p:spPr>
            <a:xfrm>
              <a:off x="360000" y="2682000"/>
              <a:ext cx="288032" cy="288032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右箭头 5"/>
            <p:cNvSpPr/>
            <p:nvPr/>
          </p:nvSpPr>
          <p:spPr>
            <a:xfrm>
              <a:off x="431560" y="2780936"/>
              <a:ext cx="180000" cy="72000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任意多边形 6"/>
          <p:cNvSpPr/>
          <p:nvPr/>
        </p:nvSpPr>
        <p:spPr>
          <a:xfrm flipH="1">
            <a:off x="2041143" y="1552211"/>
            <a:ext cx="1830723" cy="152543"/>
          </a:xfrm>
          <a:custGeom>
            <a:avLst/>
            <a:gdLst>
              <a:gd name="connsiteX0" fmla="*/ 0 w 1512168"/>
              <a:gd name="connsiteY0" fmla="*/ 216000 h 216000"/>
              <a:gd name="connsiteX1" fmla="*/ 54000 w 1512168"/>
              <a:gd name="connsiteY1" fmla="*/ 0 h 216000"/>
              <a:gd name="connsiteX2" fmla="*/ 1512168 w 1512168"/>
              <a:gd name="connsiteY2" fmla="*/ 0 h 216000"/>
              <a:gd name="connsiteX3" fmla="*/ 1458168 w 1512168"/>
              <a:gd name="connsiteY3" fmla="*/ 216000 h 216000"/>
              <a:gd name="connsiteX4" fmla="*/ 0 w 1512168"/>
              <a:gd name="connsiteY4" fmla="*/ 216000 h 216000"/>
              <a:gd name="connsiteX0-1" fmla="*/ 0 w 1512168"/>
              <a:gd name="connsiteY0-2" fmla="*/ 216000 h 216024"/>
              <a:gd name="connsiteX1-3" fmla="*/ 54000 w 1512168"/>
              <a:gd name="connsiteY1-4" fmla="*/ 0 h 216024"/>
              <a:gd name="connsiteX2-5" fmla="*/ 1512168 w 1512168"/>
              <a:gd name="connsiteY2-6" fmla="*/ 0 h 216024"/>
              <a:gd name="connsiteX3-7" fmla="*/ 1368152 w 1512168"/>
              <a:gd name="connsiteY3-8" fmla="*/ 216024 h 216024"/>
              <a:gd name="connsiteX4-9" fmla="*/ 0 w 1512168"/>
              <a:gd name="connsiteY4-10" fmla="*/ 216000 h 216024"/>
              <a:gd name="connsiteX0-11" fmla="*/ 0 w 1512168"/>
              <a:gd name="connsiteY0-12" fmla="*/ 216000 h 216024"/>
              <a:gd name="connsiteX1-13" fmla="*/ 144016 w 1512168"/>
              <a:gd name="connsiteY1-14" fmla="*/ 0 h 216024"/>
              <a:gd name="connsiteX2-15" fmla="*/ 1512168 w 1512168"/>
              <a:gd name="connsiteY2-16" fmla="*/ 0 h 216024"/>
              <a:gd name="connsiteX3-17" fmla="*/ 1368152 w 1512168"/>
              <a:gd name="connsiteY3-18" fmla="*/ 216024 h 216024"/>
              <a:gd name="connsiteX4-19" fmla="*/ 0 w 1512168"/>
              <a:gd name="connsiteY4-20" fmla="*/ 216000 h 2160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512168" h="216024">
                <a:moveTo>
                  <a:pt x="0" y="216000"/>
                </a:moveTo>
                <a:lnTo>
                  <a:pt x="144016" y="0"/>
                </a:lnTo>
                <a:lnTo>
                  <a:pt x="1512168" y="0"/>
                </a:lnTo>
                <a:lnTo>
                  <a:pt x="1368152" y="216024"/>
                </a:lnTo>
                <a:lnTo>
                  <a:pt x="0" y="216000"/>
                </a:lnTo>
                <a:close/>
              </a:path>
            </a:pathLst>
          </a:custGeom>
          <a:solidFill>
            <a:srgbClr val="00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手动输入 7"/>
          <p:cNvSpPr/>
          <p:nvPr/>
        </p:nvSpPr>
        <p:spPr>
          <a:xfrm rot="5400000" flipH="1">
            <a:off x="3808071" y="-214716"/>
            <a:ext cx="1013226" cy="4547080"/>
          </a:xfrm>
          <a:prstGeom prst="flowChartManualInput">
            <a:avLst/>
          </a:prstGeom>
          <a:solidFill>
            <a:srgbClr val="0042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041144" y="1765523"/>
            <a:ext cx="4187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需求介绍（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王彦博</a:t>
            </a:r>
          </a:p>
        </p:txBody>
      </p:sp>
      <p:sp>
        <p:nvSpPr>
          <p:cNvPr id="10" name="TextBox 146"/>
          <p:cNvSpPr txBox="1">
            <a:spLocks noChangeArrowheads="1"/>
          </p:cNvSpPr>
          <p:nvPr/>
        </p:nvSpPr>
        <p:spPr bwMode="auto">
          <a:xfrm>
            <a:off x="2833232" y="2947268"/>
            <a:ext cx="2890896" cy="324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7404" tIns="38702" rIns="77404" bIns="3870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itchFamily="2" charset="2"/>
              <a:buChar char="ü"/>
            </a:pPr>
            <a:r>
              <a:rPr lang="zh-CN" altLang="en-US" sz="1600" b="1" dirty="0" smtClean="0"/>
              <a:t>选择更新来源 </a:t>
            </a:r>
            <a:endParaRPr lang="zh-CN" altLang="zh-CN" sz="1600" b="1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75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9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1"/>
          <p:cNvSpPr/>
          <p:nvPr/>
        </p:nvSpPr>
        <p:spPr>
          <a:xfrm>
            <a:off x="0" y="274202"/>
            <a:ext cx="3131840" cy="360040"/>
          </a:xfrm>
          <a:prstGeom prst="homePlate">
            <a:avLst/>
          </a:pr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TextBox 14"/>
          <p:cNvSpPr txBox="1">
            <a:spLocks noChangeArrowheads="1"/>
          </p:cNvSpPr>
          <p:nvPr/>
        </p:nvSpPr>
        <p:spPr bwMode="auto">
          <a:xfrm>
            <a:off x="107504" y="286698"/>
            <a:ext cx="2736304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sz="1600" b="1" dirty="0" smtClean="0">
                <a:solidFill>
                  <a:schemeClr val="bg1"/>
                </a:solidFill>
              </a:rPr>
              <a:t>需求</a:t>
            </a:r>
            <a:r>
              <a:rPr lang="en-US" altLang="zh-CN" sz="16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 smtClean="0">
                <a:solidFill>
                  <a:schemeClr val="bg1"/>
                </a:solidFill>
              </a:rPr>
              <a:t>选择更新来源</a:t>
            </a:r>
            <a:endParaRPr lang="zh-CN" altLang="zh-CN" sz="1600" b="1" dirty="0" smtClean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63636" y="3112783"/>
            <a:ext cx="14401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3528" y="985292"/>
            <a:ext cx="842493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介绍：</a:t>
            </a:r>
            <a:endParaRPr lang="en-US" altLang="zh-CN" b="1" dirty="0" smtClean="0"/>
          </a:p>
          <a:p>
            <a:r>
              <a:rPr lang="zh-CN" altLang="zh-CN" dirty="0" smtClean="0"/>
              <a:t>用户进入到自动更新管理软件平台后，在操作界面可以看到“选择更新来源”按钮，点击后可对软件版本更新来源进行选择</a:t>
            </a:r>
            <a:r>
              <a:rPr lang="en-US" altLang="zh-CN" dirty="0" smtClean="0"/>
              <a:t>:</a:t>
            </a:r>
          </a:p>
          <a:p>
            <a:endParaRPr lang="zh-CN" altLang="zh-CN" dirty="0" smtClean="0"/>
          </a:p>
          <a:p>
            <a:r>
              <a:rPr lang="zh-CN" altLang="zh-CN" b="1" dirty="0" smtClean="0"/>
              <a:t>用例描述：</a:t>
            </a:r>
            <a:r>
              <a:rPr lang="zh-CN" altLang="zh-CN" dirty="0" smtClean="0"/>
              <a:t>选择更新来源</a:t>
            </a:r>
            <a:endParaRPr lang="en-US" altLang="zh-CN" dirty="0" smtClean="0"/>
          </a:p>
          <a:p>
            <a:endParaRPr lang="zh-CN" altLang="zh-CN" dirty="0" smtClean="0"/>
          </a:p>
          <a:p>
            <a:r>
              <a:rPr lang="zh-CN" altLang="zh-CN" b="1" dirty="0" smtClean="0"/>
              <a:t>执行者：</a:t>
            </a:r>
            <a:r>
              <a:rPr lang="zh-CN" altLang="zh-CN" dirty="0" smtClean="0"/>
              <a:t>用户</a:t>
            </a:r>
            <a:endParaRPr lang="en-US" altLang="zh-CN" dirty="0" smtClean="0"/>
          </a:p>
          <a:p>
            <a:endParaRPr lang="zh-CN" altLang="zh-CN" dirty="0" smtClean="0"/>
          </a:p>
          <a:p>
            <a:r>
              <a:rPr lang="zh-CN" altLang="zh-CN" b="1" dirty="0" smtClean="0"/>
              <a:t>基本路径：</a:t>
            </a:r>
          </a:p>
          <a:p>
            <a:r>
              <a:rPr lang="en-US" altLang="zh-CN" dirty="0" smtClean="0"/>
              <a:t>a)</a:t>
            </a:r>
            <a:r>
              <a:rPr lang="zh-CN" altLang="zh-CN" dirty="0" smtClean="0"/>
              <a:t>用户进入到自动更新管理软件平台后，显示“选择更新来源”按钮。</a:t>
            </a:r>
          </a:p>
          <a:p>
            <a:r>
              <a:rPr lang="en-US" altLang="zh-CN" dirty="0" smtClean="0"/>
              <a:t>b)</a:t>
            </a:r>
            <a:r>
              <a:rPr lang="zh-CN" altLang="zh-CN" dirty="0" smtClean="0"/>
              <a:t>用户点击“选择更新来源”按钮后，显示多种提供选择的更新渠道。</a:t>
            </a:r>
          </a:p>
          <a:p>
            <a:r>
              <a:rPr lang="en-US" altLang="zh-CN" dirty="0" smtClean="0"/>
              <a:t>c)</a:t>
            </a:r>
            <a:r>
              <a:rPr lang="zh-CN" altLang="zh-CN" dirty="0" smtClean="0"/>
              <a:t>用户在多种更新渠道中进行选择，选择完成后系统保存新的软件更新来源，下次进行更新时通过新保存的来源来完成更新操作。</a:t>
            </a:r>
            <a:endParaRPr lang="zh-CN" altLang="zh-CN" dirty="0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1"/>
          <p:cNvSpPr/>
          <p:nvPr/>
        </p:nvSpPr>
        <p:spPr>
          <a:xfrm>
            <a:off x="0" y="274202"/>
            <a:ext cx="2915816" cy="360040"/>
          </a:xfrm>
          <a:prstGeom prst="homePlate">
            <a:avLst/>
          </a:pr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TextBox 14"/>
          <p:cNvSpPr txBox="1">
            <a:spLocks noChangeArrowheads="1"/>
          </p:cNvSpPr>
          <p:nvPr/>
        </p:nvSpPr>
        <p:spPr bwMode="auto">
          <a:xfrm>
            <a:off x="107504" y="286699"/>
            <a:ext cx="2592288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sz="1600" b="1" dirty="0" smtClean="0">
                <a:solidFill>
                  <a:schemeClr val="bg1"/>
                </a:solidFill>
              </a:rPr>
              <a:t>活动图</a:t>
            </a:r>
            <a:r>
              <a:rPr lang="en-US" altLang="zh-CN" sz="16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 smtClean="0">
                <a:solidFill>
                  <a:schemeClr val="bg1"/>
                </a:solidFill>
              </a:rPr>
              <a:t>选择更新来源</a:t>
            </a:r>
            <a:endParaRPr lang="zh-CN" altLang="zh-CN" sz="1600" b="1" dirty="0" smtClean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63636" y="3112783"/>
            <a:ext cx="14401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31840" y="193204"/>
            <a:ext cx="5734050" cy="534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>
            <a:off x="0" y="0"/>
            <a:ext cx="9144000" cy="5715000"/>
          </a:xfrm>
          <a:custGeom>
            <a:avLst/>
            <a:gdLst/>
            <a:ahLst/>
            <a:cxnLst/>
            <a:rect l="l" t="t" r="r" b="b"/>
            <a:pathLst>
              <a:path w="10974388" h="6859588">
                <a:moveTo>
                  <a:pt x="0" y="0"/>
                </a:moveTo>
                <a:lnTo>
                  <a:pt x="54000" y="0"/>
                </a:lnTo>
                <a:lnTo>
                  <a:pt x="180000" y="0"/>
                </a:lnTo>
                <a:lnTo>
                  <a:pt x="185976" y="0"/>
                </a:lnTo>
                <a:lnTo>
                  <a:pt x="4222295" y="5751984"/>
                </a:lnTo>
                <a:lnTo>
                  <a:pt x="10974388" y="2535115"/>
                </a:lnTo>
                <a:lnTo>
                  <a:pt x="10974388" y="5878066"/>
                </a:lnTo>
                <a:lnTo>
                  <a:pt x="10974388" y="6654047"/>
                </a:lnTo>
                <a:lnTo>
                  <a:pt x="10974388" y="6859588"/>
                </a:lnTo>
                <a:lnTo>
                  <a:pt x="180000" y="6859588"/>
                </a:lnTo>
                <a:lnTo>
                  <a:pt x="0" y="6859588"/>
                </a:lnTo>
                <a:lnTo>
                  <a:pt x="0" y="5878066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894" tIns="42446" rIns="84894" bIns="42446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>
            <a:off x="0" y="14553"/>
            <a:ext cx="9144000" cy="5700448"/>
          </a:xfrm>
          <a:custGeom>
            <a:avLst/>
            <a:gdLst>
              <a:gd name="connsiteX0" fmla="*/ 0 w 9143996"/>
              <a:gd name="connsiteY0" fmla="*/ 0 h 6840000"/>
              <a:gd name="connsiteX1" fmla="*/ 3473075 w 9143996"/>
              <a:gd name="connsiteY1" fmla="*/ 5938216 h 6840000"/>
              <a:gd name="connsiteX2" fmla="*/ 9143996 w 9143996"/>
              <a:gd name="connsiteY2" fmla="*/ 2696625 h 6840000"/>
              <a:gd name="connsiteX3" fmla="*/ 9143996 w 9143996"/>
              <a:gd name="connsiteY3" fmla="*/ 6839999 h 6840000"/>
              <a:gd name="connsiteX4" fmla="*/ 4000500 w 9143996"/>
              <a:gd name="connsiteY4" fmla="*/ 6839999 h 6840000"/>
              <a:gd name="connsiteX5" fmla="*/ 4000500 w 9143996"/>
              <a:gd name="connsiteY5" fmla="*/ 6840000 h 6840000"/>
              <a:gd name="connsiteX6" fmla="*/ 0 w 9143996"/>
              <a:gd name="connsiteY6" fmla="*/ 6840000 h 68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3996" h="6840000">
                <a:moveTo>
                  <a:pt x="0" y="0"/>
                </a:moveTo>
                <a:lnTo>
                  <a:pt x="3473075" y="5938216"/>
                </a:lnTo>
                <a:lnTo>
                  <a:pt x="9143996" y="2696625"/>
                </a:lnTo>
                <a:lnTo>
                  <a:pt x="9143996" y="6839999"/>
                </a:lnTo>
                <a:lnTo>
                  <a:pt x="4000500" y="6839999"/>
                </a:lnTo>
                <a:lnTo>
                  <a:pt x="4000500" y="6840000"/>
                </a:lnTo>
                <a:lnTo>
                  <a:pt x="0" y="6840000"/>
                </a:lnTo>
                <a:close/>
              </a:path>
            </a:pathLst>
          </a:cu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894" tIns="42446" rIns="84894" bIns="42446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TextBox 2"/>
          <p:cNvSpPr>
            <a:spLocks noChangeArrowheads="1"/>
          </p:cNvSpPr>
          <p:nvPr/>
        </p:nvSpPr>
        <p:spPr bwMode="auto">
          <a:xfrm>
            <a:off x="6312652" y="4297660"/>
            <a:ext cx="2075772" cy="4522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82128" tIns="41064" rIns="82128" bIns="41064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汇报人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：第九组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802441" y="1490886"/>
            <a:ext cx="3888432" cy="1092585"/>
          </a:xfrm>
          <a:prstGeom prst="rect">
            <a:avLst/>
          </a:prstGeom>
        </p:spPr>
        <p:txBody>
          <a:bodyPr wrap="square" lIns="76179" tIns="38089" rIns="76179" bIns="38089" anchor="ctr">
            <a:spAutoFit/>
          </a:bodyPr>
          <a:lstStyle/>
          <a:p>
            <a:pPr algn="ctr"/>
            <a:r>
              <a:rPr lang="zh-CN" altLang="en-US" sz="6600" b="1" spc="500" dirty="0">
                <a:solidFill>
                  <a:srgbClr val="006C31"/>
                </a:solidFill>
                <a:latin typeface="Adobe Gothic Std B" panose="020B0800000000000000" pitchFamily="34" charset="-128"/>
                <a:ea typeface="微软雅黑" panose="020B0503020204020204" pitchFamily="34" charset="-122"/>
              </a:rPr>
              <a:t>感谢聆听</a:t>
            </a:r>
          </a:p>
        </p:txBody>
      </p:sp>
      <p:sp>
        <p:nvSpPr>
          <p:cNvPr id="11" name="矩形 10"/>
          <p:cNvSpPr/>
          <p:nvPr/>
        </p:nvSpPr>
        <p:spPr>
          <a:xfrm>
            <a:off x="6075841" y="4838613"/>
            <a:ext cx="2024551" cy="323143"/>
          </a:xfrm>
          <a:prstGeom prst="rect">
            <a:avLst/>
          </a:prstGeom>
        </p:spPr>
        <p:txBody>
          <a:bodyPr wrap="none" lIns="76179" tIns="38089" rIns="76179" bIns="38089">
            <a:spAutoFit/>
          </a:bodyPr>
          <a:lstStyle/>
          <a:p>
            <a:pPr algn="ctr"/>
            <a:r>
              <a:rPr lang="en-US" altLang="zh-CN" sz="1600" spc="2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1600" spc="25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2018</a:t>
            </a:r>
            <a:r>
              <a:rPr lang="zh-CN" altLang="en-US" sz="1600" spc="25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年</a:t>
            </a:r>
            <a:r>
              <a:rPr lang="en-US" altLang="zh-CN" sz="1600" spc="25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1600" spc="25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月</a:t>
            </a:r>
            <a:r>
              <a:rPr lang="en-US" altLang="zh-CN" sz="1600" spc="25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29</a:t>
            </a:r>
            <a:r>
              <a:rPr lang="zh-CN" altLang="en-US" sz="1600" spc="25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日</a:t>
            </a:r>
            <a:endParaRPr lang="zh-CN" altLang="en-US" sz="1600" spc="250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theme/theme1.xml><?xml version="1.0" encoding="utf-8"?>
<a:theme xmlns:a="http://schemas.openxmlformats.org/drawingml/2006/main" name="半成品网络学院  https://tao13.taobao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639</Words>
  <Application>Microsoft Office PowerPoint</Application>
  <PresentationFormat>全屏显示(16:10)</PresentationFormat>
  <Paragraphs>118</Paragraphs>
  <Slides>20</Slides>
  <Notes>20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1" baseType="lpstr">
      <vt:lpstr>半成品网络学院  https://tao13.taobao.com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Sky123.Org</cp:lastModifiedBy>
  <cp:revision>30</cp:revision>
  <dcterms:created xsi:type="dcterms:W3CDTF">2015-03-06T08:45:00Z</dcterms:created>
  <dcterms:modified xsi:type="dcterms:W3CDTF">2018-03-28T10:15:01Z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2052-10.1.0.6393</vt:lpwstr>
  </property>
</Properties>
</file>